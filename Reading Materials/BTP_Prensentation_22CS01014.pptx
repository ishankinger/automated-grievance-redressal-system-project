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Merriweather" panose="00000500000000000000" pitchFamily="2" charset="0"/>
      <p:regular r:id="rId15"/>
    </p:embeddedFont>
    <p:embeddedFont>
      <p:font typeface="Merriweather Bold" panose="020B0604020202020204" charset="0"/>
      <p:regular r:id="rId16"/>
    </p:embeddedFont>
    <p:embeddedFont>
      <p:font typeface="Merriweather Sans" pitchFamily="2" charset="0"/>
      <p:regular r:id="rId17"/>
    </p:embeddedFont>
    <p:embeddedFont>
      <p:font typeface="Merriweather Sans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24104A-8551-45B1-AADD-A9575497D6C3}" v="5" dt="2026-05-05T05:06:41.6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n kinger" userId="cc3919d01db50da3" providerId="LiveId" clId="{7E74A783-C030-428A-80E2-7C94206C4966}"/>
    <pc:docChg chg="undo custSel modSld">
      <pc:chgData name="ishan kinger" userId="cc3919d01db50da3" providerId="LiveId" clId="{7E74A783-C030-428A-80E2-7C94206C4966}" dt="2026-05-05T04:18:56.706" v="15" actId="14861"/>
      <pc:docMkLst>
        <pc:docMk/>
      </pc:docMkLst>
      <pc:sldChg chg="modSp mod">
        <pc:chgData name="ishan kinger" userId="cc3919d01db50da3" providerId="LiveId" clId="{7E74A783-C030-428A-80E2-7C94206C4966}" dt="2026-05-05T04:18:56.706" v="15" actId="14861"/>
        <pc:sldMkLst>
          <pc:docMk/>
          <pc:sldMk cId="0" sldId="256"/>
        </pc:sldMkLst>
        <pc:spChg chg="mod">
          <ac:chgData name="ishan kinger" userId="cc3919d01db50da3" providerId="LiveId" clId="{7E74A783-C030-428A-80E2-7C94206C4966}" dt="2026-05-05T03:49:59.172" v="2" actId="14861"/>
          <ac:spMkLst>
            <pc:docMk/>
            <pc:sldMk cId="0" sldId="256"/>
            <ac:spMk id="8" creationId="{00000000-0000-0000-0000-000000000000}"/>
          </ac:spMkLst>
        </pc:spChg>
        <pc:spChg chg="mod">
          <ac:chgData name="ishan kinger" userId="cc3919d01db50da3" providerId="LiveId" clId="{7E74A783-C030-428A-80E2-7C94206C4966}" dt="2026-05-05T04:18:56.706" v="15" actId="14861"/>
          <ac:spMkLst>
            <pc:docMk/>
            <pc:sldMk cId="0" sldId="256"/>
            <ac:spMk id="9" creationId="{00000000-0000-0000-0000-000000000000}"/>
          </ac:spMkLst>
        </pc:spChg>
        <pc:spChg chg="mod">
          <ac:chgData name="ishan kinger" userId="cc3919d01db50da3" providerId="LiveId" clId="{7E74A783-C030-428A-80E2-7C94206C4966}" dt="2026-05-05T04:18:50.917" v="14" actId="14861"/>
          <ac:spMkLst>
            <pc:docMk/>
            <pc:sldMk cId="0" sldId="256"/>
            <ac:spMk id="10" creationId="{00000000-0000-0000-0000-000000000000}"/>
          </ac:spMkLst>
        </pc:spChg>
        <pc:spChg chg="mod">
          <ac:chgData name="ishan kinger" userId="cc3919d01db50da3" providerId="LiveId" clId="{7E74A783-C030-428A-80E2-7C94206C4966}" dt="2026-05-05T04:18:50.917" v="14" actId="14861"/>
          <ac:spMkLst>
            <pc:docMk/>
            <pc:sldMk cId="0" sldId="256"/>
            <ac:spMk id="11" creationId="{00000000-0000-0000-0000-000000000000}"/>
          </ac:spMkLst>
        </pc:spChg>
        <pc:spChg chg="mod">
          <ac:chgData name="ishan kinger" userId="cc3919d01db50da3" providerId="LiveId" clId="{7E74A783-C030-428A-80E2-7C94206C4966}" dt="2026-05-05T04:18:50.917" v="14" actId="14861"/>
          <ac:spMkLst>
            <pc:docMk/>
            <pc:sldMk cId="0" sldId="256"/>
            <ac:spMk id="13" creationId="{00000000-0000-0000-0000-000000000000}"/>
          </ac:spMkLst>
        </pc:spChg>
        <pc:grpChg chg="mod">
          <ac:chgData name="ishan kinger" userId="cc3919d01db50da3" providerId="LiveId" clId="{7E74A783-C030-428A-80E2-7C94206C4966}" dt="2026-05-05T04:18:50.917" v="14" actId="14861"/>
          <ac:grpSpMkLst>
            <pc:docMk/>
            <pc:sldMk cId="0" sldId="256"/>
            <ac:grpSpMk id="2" creationId="{00000000-0000-0000-0000-000000000000}"/>
          </ac:grpSpMkLst>
        </pc:grpChg>
        <pc:grpChg chg="mod">
          <ac:chgData name="ishan kinger" userId="cc3919d01db50da3" providerId="LiveId" clId="{7E74A783-C030-428A-80E2-7C94206C4966}" dt="2026-05-05T04:18:50.917" v="14" actId="14861"/>
          <ac:grpSpMkLst>
            <pc:docMk/>
            <pc:sldMk cId="0" sldId="256"/>
            <ac:grpSpMk id="5" creationId="{00000000-0000-0000-0000-000000000000}"/>
          </ac:grpSpMkLst>
        </pc:grpChg>
      </pc:sldChg>
      <pc:sldChg chg="modSp mod">
        <pc:chgData name="ishan kinger" userId="cc3919d01db50da3" providerId="LiveId" clId="{7E74A783-C030-428A-80E2-7C94206C4966}" dt="2026-05-05T04:00:25.855" v="7" actId="113"/>
        <pc:sldMkLst>
          <pc:docMk/>
          <pc:sldMk cId="0" sldId="257"/>
        </pc:sldMkLst>
        <pc:spChg chg="mod">
          <ac:chgData name="ishan kinger" userId="cc3919d01db50da3" providerId="LiveId" clId="{7E74A783-C030-428A-80E2-7C94206C4966}" dt="2026-05-05T04:00:25.855" v="7" actId="113"/>
          <ac:spMkLst>
            <pc:docMk/>
            <pc:sldMk cId="0" sldId="257"/>
            <ac:spMk id="7" creationId="{00000000-0000-0000-0000-000000000000}"/>
          </ac:spMkLst>
        </pc:spChg>
        <pc:spChg chg="mod">
          <ac:chgData name="ishan kinger" userId="cc3919d01db50da3" providerId="LiveId" clId="{7E74A783-C030-428A-80E2-7C94206C4966}" dt="2026-05-05T03:52:02.645" v="5" actId="20577"/>
          <ac:spMkLst>
            <pc:docMk/>
            <pc:sldMk cId="0" sldId="257"/>
            <ac:spMk id="17" creationId="{00000000-0000-0000-0000-000000000000}"/>
          </ac:spMkLst>
        </pc:spChg>
      </pc:sldChg>
      <pc:sldChg chg="modSp mod">
        <pc:chgData name="ishan kinger" userId="cc3919d01db50da3" providerId="LiveId" clId="{7E74A783-C030-428A-80E2-7C94206C4966}" dt="2026-05-05T04:18:05.887" v="12" actId="20577"/>
        <pc:sldMkLst>
          <pc:docMk/>
          <pc:sldMk cId="0" sldId="260"/>
        </pc:sldMkLst>
        <pc:spChg chg="mod">
          <ac:chgData name="ishan kinger" userId="cc3919d01db50da3" providerId="LiveId" clId="{7E74A783-C030-428A-80E2-7C94206C4966}" dt="2026-05-05T04:18:05.887" v="12" actId="20577"/>
          <ac:spMkLst>
            <pc:docMk/>
            <pc:sldMk cId="0" sldId="260"/>
            <ac:spMk id="4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gif"/><Relationship Id="rId5" Type="http://schemas.openxmlformats.org/officeDocument/2006/relationships/image" Target="../media/image11.svg"/><Relationship Id="rId4" Type="http://schemas.openxmlformats.org/officeDocument/2006/relationships/image" Target="../media/image10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gif"/><Relationship Id="rId4" Type="http://schemas.openxmlformats.org/officeDocument/2006/relationships/image" Target="../media/image7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gi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0.svg"/><Relationship Id="rId7" Type="http://schemas.openxmlformats.org/officeDocument/2006/relationships/image" Target="../media/image1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6.svg"/><Relationship Id="rId9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yushyajnik/government-of-india-grievance-report?select=no_pii_grievance.json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ishankinger/Automated-Grievance-Redressal-System-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6004317" y="4470470"/>
            <a:ext cx="2254389" cy="255578"/>
            <a:chOff x="0" y="0"/>
            <a:chExt cx="593748" cy="673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3748" cy="67313"/>
            </a:xfrm>
            <a:custGeom>
              <a:avLst/>
              <a:gdLst/>
              <a:ahLst/>
              <a:cxnLst/>
              <a:rect l="l" t="t" r="r" b="b"/>
              <a:pathLst>
                <a:path w="593748" h="67313">
                  <a:moveTo>
                    <a:pt x="0" y="0"/>
                  </a:moveTo>
                  <a:lnTo>
                    <a:pt x="593748" y="0"/>
                  </a:lnTo>
                  <a:lnTo>
                    <a:pt x="593748" y="67313"/>
                  </a:lnTo>
                  <a:lnTo>
                    <a:pt x="0" y="67313"/>
                  </a:lnTo>
                  <a:close/>
                </a:path>
              </a:pathLst>
            </a:custGeom>
            <a:solidFill>
              <a:srgbClr val="F4C54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93748" cy="105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4900264" y="9190290"/>
            <a:ext cx="7452799" cy="68010"/>
            <a:chOff x="0" y="0"/>
            <a:chExt cx="1962877" cy="179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62877" cy="17912"/>
            </a:xfrm>
            <a:custGeom>
              <a:avLst/>
              <a:gdLst/>
              <a:ahLst/>
              <a:cxnLst/>
              <a:rect l="l" t="t" r="r" b="b"/>
              <a:pathLst>
                <a:path w="1962877" h="17912">
                  <a:moveTo>
                    <a:pt x="0" y="0"/>
                  </a:moveTo>
                  <a:lnTo>
                    <a:pt x="1962877" y="0"/>
                  </a:lnTo>
                  <a:lnTo>
                    <a:pt x="1962877" y="17912"/>
                  </a:lnTo>
                  <a:lnTo>
                    <a:pt x="0" y="17912"/>
                  </a:lnTo>
                  <a:close/>
                </a:path>
              </a:pathLst>
            </a:custGeom>
            <a:solidFill>
              <a:srgbClr val="F4C54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962877" cy="560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431834" y="451253"/>
            <a:ext cx="3034020" cy="2810261"/>
          </a:xfrm>
          <a:custGeom>
            <a:avLst/>
            <a:gdLst/>
            <a:ahLst/>
            <a:cxnLst/>
            <a:rect l="l" t="t" r="r" b="b"/>
            <a:pathLst>
              <a:path w="3034020" h="2810261">
                <a:moveTo>
                  <a:pt x="0" y="0"/>
                </a:moveTo>
                <a:lnTo>
                  <a:pt x="3034020" y="0"/>
                </a:lnTo>
                <a:lnTo>
                  <a:pt x="3034020" y="2810261"/>
                </a:lnTo>
                <a:lnTo>
                  <a:pt x="0" y="28102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</p:spPr>
      </p:sp>
      <p:sp>
        <p:nvSpPr>
          <p:cNvPr id="9" name="TextBox 9"/>
          <p:cNvSpPr txBox="1"/>
          <p:nvPr/>
        </p:nvSpPr>
        <p:spPr>
          <a:xfrm>
            <a:off x="1812899" y="3471064"/>
            <a:ext cx="15190823" cy="177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5484" b="1" dirty="0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 Modular Machine Learning Framework </a:t>
            </a:r>
          </a:p>
          <a:p>
            <a:pPr algn="ctr">
              <a:lnSpc>
                <a:spcPts val="7020"/>
              </a:lnSpc>
            </a:pPr>
            <a:r>
              <a:rPr lang="en-US" sz="5484" b="1" dirty="0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for Automated Grievance Redressal System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26466" y="6592228"/>
            <a:ext cx="3391052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Submitted by -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4A90E2"/>
                </a:solidFill>
                <a:latin typeface="Merriweather"/>
                <a:ea typeface="Merriweather"/>
                <a:cs typeface="Merriweather"/>
                <a:sym typeface="Merriweather"/>
              </a:rPr>
              <a:t>Ishan Kinger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A90E2"/>
                </a:solidFill>
                <a:latin typeface="Merriweather"/>
                <a:ea typeface="Merriweather"/>
                <a:cs typeface="Merriweather"/>
                <a:sym typeface="Merriweather"/>
              </a:rPr>
              <a:t>Roll no. 22CS01014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88029" y="6592228"/>
            <a:ext cx="7123179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Supervised by -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4A90E2"/>
                </a:solidFill>
                <a:latin typeface="Merriweather"/>
                <a:ea typeface="Merriweather"/>
                <a:cs typeface="Merriweather"/>
                <a:sym typeface="Merriweather"/>
              </a:rPr>
              <a:t>Dr. Padmalochan Bera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A90E2"/>
                </a:solidFill>
                <a:latin typeface="Merriweather"/>
                <a:ea typeface="Merriweather"/>
                <a:cs typeface="Merriweather"/>
                <a:sym typeface="Merriweather"/>
              </a:rPr>
              <a:t>Dept. of Computer Science and Engineering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02315" y="5339392"/>
            <a:ext cx="14756747" cy="371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4A90E2"/>
                </a:solidFill>
                <a:latin typeface="Merriweather"/>
                <a:ea typeface="Merriweather"/>
                <a:cs typeface="Merriweather"/>
                <a:sym typeface="Merriweather"/>
              </a:rPr>
              <a:t>An autonomous system that can process public grievance and support faster and more consistent redressal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43400" y="8651829"/>
            <a:ext cx="8890228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Indian Institute of Technology, Bhubaneswar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24277" y="1831481"/>
            <a:ext cx="7296226" cy="90091"/>
            <a:chOff x="0" y="0"/>
            <a:chExt cx="1921640" cy="237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21640" cy="23728"/>
            </a:xfrm>
            <a:custGeom>
              <a:avLst/>
              <a:gdLst/>
              <a:ahLst/>
              <a:cxnLst/>
              <a:rect l="l" t="t" r="r" b="b"/>
              <a:pathLst>
                <a:path w="1921640" h="23728">
                  <a:moveTo>
                    <a:pt x="0" y="0"/>
                  </a:moveTo>
                  <a:lnTo>
                    <a:pt x="1921640" y="0"/>
                  </a:lnTo>
                  <a:lnTo>
                    <a:pt x="1921640" y="23728"/>
                  </a:lnTo>
                  <a:lnTo>
                    <a:pt x="0" y="23728"/>
                  </a:lnTo>
                  <a:close/>
                </a:path>
              </a:pathLst>
            </a:custGeom>
            <a:solidFill>
              <a:srgbClr val="F4C54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21640" cy="61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63988" y="1105806"/>
            <a:ext cx="730082" cy="770720"/>
          </a:xfrm>
          <a:custGeom>
            <a:avLst/>
            <a:gdLst/>
            <a:ahLst/>
            <a:cxnLst/>
            <a:rect l="l" t="t" r="r" b="b"/>
            <a:pathLst>
              <a:path w="730082" h="770720">
                <a:moveTo>
                  <a:pt x="0" y="0"/>
                </a:moveTo>
                <a:lnTo>
                  <a:pt x="730083" y="0"/>
                </a:lnTo>
                <a:lnTo>
                  <a:pt x="730083" y="770720"/>
                </a:lnTo>
                <a:lnTo>
                  <a:pt x="0" y="7707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828800" y="952500"/>
            <a:ext cx="7600540" cy="1028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94070" y="8067642"/>
            <a:ext cx="15884329" cy="1166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dirty="0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The main objective of this project is to develop a </a:t>
            </a:r>
            <a:r>
              <a:rPr lang="en-US" sz="2199" b="1" dirty="0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modular AI-assisted </a:t>
            </a:r>
            <a:r>
              <a:rPr lang="en-US" sz="2199" dirty="0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grievance redressal system that can process complaint text through multiple analytical stages and provide meaningful outputs for grievance handling.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endParaRPr lang="en-US" sz="2199" dirty="0">
              <a:solidFill>
                <a:srgbClr val="004AA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2438400" y="4139416"/>
            <a:ext cx="3600064" cy="3216212"/>
            <a:chOff x="0" y="0"/>
            <a:chExt cx="1105281" cy="987425"/>
          </a:xfrm>
          <a:effectLst/>
        </p:grpSpPr>
        <p:sp>
          <p:nvSpPr>
            <p:cNvPr id="9" name="Freeform 9"/>
            <p:cNvSpPr/>
            <p:nvPr/>
          </p:nvSpPr>
          <p:spPr>
            <a:xfrm>
              <a:off x="0" y="0"/>
              <a:ext cx="1105281" cy="987425"/>
            </a:xfrm>
            <a:custGeom>
              <a:avLst/>
              <a:gdLst/>
              <a:ahLst/>
              <a:cxnLst/>
              <a:rect l="l" t="t" r="r" b="b"/>
              <a:pathLst>
                <a:path w="1105281" h="987425">
                  <a:moveTo>
                    <a:pt x="1105281" y="105374"/>
                  </a:moveTo>
                  <a:lnTo>
                    <a:pt x="1105281" y="882051"/>
                  </a:lnTo>
                  <a:cubicBezTo>
                    <a:pt x="1105281" y="909998"/>
                    <a:pt x="1094179" y="936800"/>
                    <a:pt x="1074418" y="956562"/>
                  </a:cubicBezTo>
                  <a:cubicBezTo>
                    <a:pt x="1054656" y="976323"/>
                    <a:pt x="1027854" y="987425"/>
                    <a:pt x="999907" y="987425"/>
                  </a:cubicBezTo>
                  <a:lnTo>
                    <a:pt x="105374" y="987425"/>
                  </a:lnTo>
                  <a:cubicBezTo>
                    <a:pt x="77427" y="987425"/>
                    <a:pt x="50625" y="976323"/>
                    <a:pt x="30863" y="956562"/>
                  </a:cubicBezTo>
                  <a:cubicBezTo>
                    <a:pt x="11102" y="936800"/>
                    <a:pt x="0" y="909998"/>
                    <a:pt x="0" y="882051"/>
                  </a:cubicBezTo>
                  <a:lnTo>
                    <a:pt x="0" y="105374"/>
                  </a:lnTo>
                  <a:cubicBezTo>
                    <a:pt x="0" y="77427"/>
                    <a:pt x="11102" y="50625"/>
                    <a:pt x="30863" y="30863"/>
                  </a:cubicBezTo>
                  <a:cubicBezTo>
                    <a:pt x="50625" y="11102"/>
                    <a:pt x="77427" y="0"/>
                    <a:pt x="105374" y="0"/>
                  </a:cubicBezTo>
                  <a:lnTo>
                    <a:pt x="999907" y="0"/>
                  </a:lnTo>
                  <a:cubicBezTo>
                    <a:pt x="1027854" y="0"/>
                    <a:pt x="1054656" y="11102"/>
                    <a:pt x="1074418" y="30863"/>
                  </a:cubicBezTo>
                  <a:cubicBezTo>
                    <a:pt x="1094179" y="50625"/>
                    <a:pt x="1105281" y="77427"/>
                    <a:pt x="1105281" y="105374"/>
                  </a:cubicBezTo>
                  <a:close/>
                </a:path>
              </a:pathLst>
            </a:custGeom>
            <a:gradFill rotWithShape="1">
              <a:gsLst>
                <a:gs pos="0">
                  <a:srgbClr val="EBFAFF">
                    <a:alpha val="50000"/>
                  </a:srgbClr>
                </a:gs>
                <a:gs pos="100000">
                  <a:srgbClr val="87CEFB">
                    <a:alpha val="50000"/>
                  </a:srgbClr>
                </a:gs>
              </a:gsLst>
              <a:lin ang="2700000"/>
            </a:gradFill>
            <a:ln w="38100" cap="rnd">
              <a:solidFill>
                <a:srgbClr val="4A90E2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05281" cy="1025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731584" y="4390380"/>
            <a:ext cx="2948823" cy="897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  <a:spcBef>
                <a:spcPct val="0"/>
              </a:spcBef>
            </a:pPr>
            <a:r>
              <a:rPr lang="en-US" sz="2573" b="1" dirty="0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Large Volume Complaints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99976" y="5527623"/>
            <a:ext cx="3135062" cy="1203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1"/>
              </a:lnSpc>
              <a:spcBef>
                <a:spcPct val="0"/>
              </a:spcBef>
            </a:pPr>
            <a:r>
              <a:rPr lang="en-US" sz="1715" dirty="0">
                <a:solidFill>
                  <a:srgbClr val="1F1F1F"/>
                </a:solidFill>
                <a:latin typeface="Merriweather"/>
                <a:ea typeface="Merriweather"/>
                <a:cs typeface="Merriweather"/>
                <a:sym typeface="Merriweather"/>
              </a:rPr>
              <a:t>Public grievance systems receive a very large number of complaints in unstructured text form.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934200" y="4137126"/>
            <a:ext cx="3600064" cy="3216212"/>
            <a:chOff x="0" y="0"/>
            <a:chExt cx="1105281" cy="98742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05281" cy="987425"/>
            </a:xfrm>
            <a:custGeom>
              <a:avLst/>
              <a:gdLst/>
              <a:ahLst/>
              <a:cxnLst/>
              <a:rect l="l" t="t" r="r" b="b"/>
              <a:pathLst>
                <a:path w="1105281" h="987425">
                  <a:moveTo>
                    <a:pt x="1105281" y="105374"/>
                  </a:moveTo>
                  <a:lnTo>
                    <a:pt x="1105281" y="882051"/>
                  </a:lnTo>
                  <a:cubicBezTo>
                    <a:pt x="1105281" y="909998"/>
                    <a:pt x="1094179" y="936800"/>
                    <a:pt x="1074418" y="956562"/>
                  </a:cubicBezTo>
                  <a:cubicBezTo>
                    <a:pt x="1054656" y="976323"/>
                    <a:pt x="1027854" y="987425"/>
                    <a:pt x="999907" y="987425"/>
                  </a:cubicBezTo>
                  <a:lnTo>
                    <a:pt x="105374" y="987425"/>
                  </a:lnTo>
                  <a:cubicBezTo>
                    <a:pt x="77427" y="987425"/>
                    <a:pt x="50625" y="976323"/>
                    <a:pt x="30863" y="956562"/>
                  </a:cubicBezTo>
                  <a:cubicBezTo>
                    <a:pt x="11102" y="936800"/>
                    <a:pt x="0" y="909998"/>
                    <a:pt x="0" y="882051"/>
                  </a:cubicBezTo>
                  <a:lnTo>
                    <a:pt x="0" y="105374"/>
                  </a:lnTo>
                  <a:cubicBezTo>
                    <a:pt x="0" y="77427"/>
                    <a:pt x="11102" y="50625"/>
                    <a:pt x="30863" y="30863"/>
                  </a:cubicBezTo>
                  <a:cubicBezTo>
                    <a:pt x="50625" y="11102"/>
                    <a:pt x="77427" y="0"/>
                    <a:pt x="105374" y="0"/>
                  </a:cubicBezTo>
                  <a:lnTo>
                    <a:pt x="999907" y="0"/>
                  </a:lnTo>
                  <a:cubicBezTo>
                    <a:pt x="1027854" y="0"/>
                    <a:pt x="1054656" y="11102"/>
                    <a:pt x="1074418" y="30863"/>
                  </a:cubicBezTo>
                  <a:cubicBezTo>
                    <a:pt x="1094179" y="50625"/>
                    <a:pt x="1105281" y="77427"/>
                    <a:pt x="1105281" y="105374"/>
                  </a:cubicBezTo>
                  <a:close/>
                </a:path>
              </a:pathLst>
            </a:custGeom>
            <a:gradFill rotWithShape="1">
              <a:gsLst>
                <a:gs pos="0">
                  <a:srgbClr val="EBFAFF">
                    <a:alpha val="50000"/>
                  </a:srgbClr>
                </a:gs>
                <a:gs pos="100000">
                  <a:srgbClr val="87CEFB">
                    <a:alpha val="50000"/>
                  </a:srgbClr>
                </a:gs>
              </a:gsLst>
              <a:lin ang="2700000"/>
            </a:gradFill>
            <a:ln w="38100" cap="rnd">
              <a:solidFill>
                <a:srgbClr val="4A90E2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05281" cy="1025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253692" y="4390380"/>
            <a:ext cx="2948823" cy="897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  <a:spcBef>
                <a:spcPct val="0"/>
              </a:spcBef>
            </a:pPr>
            <a:r>
              <a:rPr lang="en-US" sz="2573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Slow Response Time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53692" y="5527623"/>
            <a:ext cx="3135062" cy="1506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1"/>
              </a:lnSpc>
              <a:spcBef>
                <a:spcPct val="0"/>
              </a:spcBef>
            </a:pPr>
            <a:r>
              <a:rPr lang="en-US" sz="1715" dirty="0">
                <a:solidFill>
                  <a:srgbClr val="1F1F1F"/>
                </a:solidFill>
                <a:latin typeface="Merriweather"/>
                <a:ea typeface="Merriweather"/>
                <a:cs typeface="Merriweather"/>
                <a:sym typeface="Merriweather"/>
              </a:rPr>
              <a:t>Unstructured textual data is difficult to process manually and human-based sorting and routing of complaints may introduce delays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404436" y="4137126"/>
            <a:ext cx="3600064" cy="3216212"/>
            <a:chOff x="0" y="0"/>
            <a:chExt cx="1105281" cy="9874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05281" cy="987425"/>
            </a:xfrm>
            <a:custGeom>
              <a:avLst/>
              <a:gdLst/>
              <a:ahLst/>
              <a:cxnLst/>
              <a:rect l="l" t="t" r="r" b="b"/>
              <a:pathLst>
                <a:path w="1105281" h="987425">
                  <a:moveTo>
                    <a:pt x="1105281" y="105374"/>
                  </a:moveTo>
                  <a:lnTo>
                    <a:pt x="1105281" y="882051"/>
                  </a:lnTo>
                  <a:cubicBezTo>
                    <a:pt x="1105281" y="909998"/>
                    <a:pt x="1094179" y="936800"/>
                    <a:pt x="1074418" y="956562"/>
                  </a:cubicBezTo>
                  <a:cubicBezTo>
                    <a:pt x="1054656" y="976323"/>
                    <a:pt x="1027854" y="987425"/>
                    <a:pt x="999907" y="987425"/>
                  </a:cubicBezTo>
                  <a:lnTo>
                    <a:pt x="105374" y="987425"/>
                  </a:lnTo>
                  <a:cubicBezTo>
                    <a:pt x="77427" y="987425"/>
                    <a:pt x="50625" y="976323"/>
                    <a:pt x="30863" y="956562"/>
                  </a:cubicBezTo>
                  <a:cubicBezTo>
                    <a:pt x="11102" y="936800"/>
                    <a:pt x="0" y="909998"/>
                    <a:pt x="0" y="882051"/>
                  </a:cubicBezTo>
                  <a:lnTo>
                    <a:pt x="0" y="105374"/>
                  </a:lnTo>
                  <a:cubicBezTo>
                    <a:pt x="0" y="77427"/>
                    <a:pt x="11102" y="50625"/>
                    <a:pt x="30863" y="30863"/>
                  </a:cubicBezTo>
                  <a:cubicBezTo>
                    <a:pt x="50625" y="11102"/>
                    <a:pt x="77427" y="0"/>
                    <a:pt x="105374" y="0"/>
                  </a:cubicBezTo>
                  <a:lnTo>
                    <a:pt x="999907" y="0"/>
                  </a:lnTo>
                  <a:cubicBezTo>
                    <a:pt x="1027854" y="0"/>
                    <a:pt x="1054656" y="11102"/>
                    <a:pt x="1074418" y="30863"/>
                  </a:cubicBezTo>
                  <a:cubicBezTo>
                    <a:pt x="1094179" y="50625"/>
                    <a:pt x="1105281" y="77427"/>
                    <a:pt x="1105281" y="105374"/>
                  </a:cubicBezTo>
                  <a:close/>
                </a:path>
              </a:pathLst>
            </a:custGeom>
            <a:gradFill rotWithShape="1">
              <a:gsLst>
                <a:gs pos="0">
                  <a:srgbClr val="EBFAFF">
                    <a:alpha val="50000"/>
                  </a:srgbClr>
                </a:gs>
                <a:gs pos="100000">
                  <a:srgbClr val="87CEFB">
                    <a:alpha val="50000"/>
                  </a:srgbClr>
                </a:gs>
              </a:gsLst>
              <a:lin ang="2700000"/>
            </a:gradFill>
            <a:ln w="38100" cap="rnd">
              <a:solidFill>
                <a:srgbClr val="4A90E2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105281" cy="1025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730056" y="4390310"/>
            <a:ext cx="2948823" cy="1354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  <a:spcBef>
                <a:spcPct val="0"/>
              </a:spcBef>
            </a:pPr>
            <a:r>
              <a:rPr lang="en-US" sz="2573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Incosistent Classification and Rounting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730056" y="6013658"/>
            <a:ext cx="3135062" cy="901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1"/>
              </a:lnSpc>
              <a:spcBef>
                <a:spcPct val="0"/>
              </a:spcBef>
            </a:pPr>
            <a:r>
              <a:rPr lang="en-US" sz="1715">
                <a:solidFill>
                  <a:srgbClr val="1F1F1F"/>
                </a:solidFill>
                <a:latin typeface="Merriweather"/>
                <a:ea typeface="Merriweather"/>
                <a:cs typeface="Merriweather"/>
                <a:sym typeface="Merriweather"/>
              </a:rPr>
              <a:t>Manual processing leads to inconsistent classification and inefficient routing.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94071" y="2631173"/>
            <a:ext cx="15465229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Grievance redressal</a:t>
            </a:r>
            <a:r>
              <a:rPr lang="en-US" sz="2199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 is one of the most important functions of any public service or citizen-support system.</a:t>
            </a:r>
            <a:r>
              <a:rPr lang="en-US" sz="2199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A grievance</a:t>
            </a:r>
            <a:r>
              <a:rPr lang="en-US" sz="2199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 generally represents a complaint, request, concern raised by a citizen.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29029" y="2695111"/>
            <a:ext cx="247565" cy="267203"/>
            <a:chOff x="0" y="0"/>
            <a:chExt cx="61214" cy="66167"/>
          </a:xfrm>
        </p:grpSpPr>
        <p:sp>
          <p:nvSpPr>
            <p:cNvPr id="25" name="Freeform 25"/>
            <p:cNvSpPr/>
            <p:nvPr/>
          </p:nvSpPr>
          <p:spPr>
            <a:xfrm>
              <a:off x="455" y="0"/>
              <a:ext cx="60304" cy="66062"/>
            </a:xfrm>
            <a:custGeom>
              <a:avLst/>
              <a:gdLst/>
              <a:ahLst/>
              <a:cxnLst/>
              <a:rect l="l" t="t" r="r" b="b"/>
              <a:pathLst>
                <a:path w="60304" h="66062">
                  <a:moveTo>
                    <a:pt x="40480" y="1992"/>
                  </a:moveTo>
                  <a:lnTo>
                    <a:pt x="40482" y="1992"/>
                  </a:lnTo>
                  <a:cubicBezTo>
                    <a:pt x="43771" y="3310"/>
                    <a:pt x="46794" y="5211"/>
                    <a:pt x="49407" y="7603"/>
                  </a:cubicBezTo>
                  <a:lnTo>
                    <a:pt x="49520" y="7707"/>
                  </a:lnTo>
                  <a:cubicBezTo>
                    <a:pt x="52210" y="10170"/>
                    <a:pt x="54454" y="13080"/>
                    <a:pt x="56154" y="16307"/>
                  </a:cubicBezTo>
                  <a:lnTo>
                    <a:pt x="56264" y="16516"/>
                  </a:lnTo>
                  <a:cubicBezTo>
                    <a:pt x="58037" y="19883"/>
                    <a:pt x="59247" y="23519"/>
                    <a:pt x="59844" y="27278"/>
                  </a:cubicBezTo>
                  <a:lnTo>
                    <a:pt x="59850" y="27316"/>
                  </a:lnTo>
                  <a:cubicBezTo>
                    <a:pt x="60452" y="31103"/>
                    <a:pt x="60455" y="34960"/>
                    <a:pt x="59858" y="38747"/>
                  </a:cubicBezTo>
                  <a:lnTo>
                    <a:pt x="59829" y="38934"/>
                  </a:lnTo>
                  <a:cubicBezTo>
                    <a:pt x="59242" y="42662"/>
                    <a:pt x="58037" y="46267"/>
                    <a:pt x="56264" y="49599"/>
                  </a:cubicBezTo>
                  <a:lnTo>
                    <a:pt x="56175" y="49766"/>
                  </a:lnTo>
                  <a:cubicBezTo>
                    <a:pt x="54461" y="52987"/>
                    <a:pt x="52211" y="55891"/>
                    <a:pt x="49520" y="58355"/>
                  </a:cubicBezTo>
                  <a:lnTo>
                    <a:pt x="49407" y="58459"/>
                  </a:lnTo>
                  <a:cubicBezTo>
                    <a:pt x="46794" y="60852"/>
                    <a:pt x="43771" y="62752"/>
                    <a:pt x="40482" y="64070"/>
                  </a:cubicBezTo>
                  <a:lnTo>
                    <a:pt x="40480" y="64070"/>
                  </a:lnTo>
                  <a:cubicBezTo>
                    <a:pt x="37196" y="65386"/>
                    <a:pt x="33690" y="66062"/>
                    <a:pt x="30152" y="66062"/>
                  </a:cubicBezTo>
                  <a:lnTo>
                    <a:pt x="30152" y="66062"/>
                  </a:lnTo>
                  <a:cubicBezTo>
                    <a:pt x="26614" y="66062"/>
                    <a:pt x="23108" y="65386"/>
                    <a:pt x="19824" y="64070"/>
                  </a:cubicBezTo>
                  <a:lnTo>
                    <a:pt x="19822" y="64070"/>
                  </a:lnTo>
                  <a:cubicBezTo>
                    <a:pt x="16533" y="62752"/>
                    <a:pt x="13510" y="60852"/>
                    <a:pt x="10897" y="58459"/>
                  </a:cubicBezTo>
                  <a:lnTo>
                    <a:pt x="10784" y="58355"/>
                  </a:lnTo>
                  <a:cubicBezTo>
                    <a:pt x="8093" y="55891"/>
                    <a:pt x="5843" y="52987"/>
                    <a:pt x="4129" y="49766"/>
                  </a:cubicBezTo>
                  <a:lnTo>
                    <a:pt x="4040" y="49599"/>
                  </a:lnTo>
                  <a:cubicBezTo>
                    <a:pt x="2267" y="46267"/>
                    <a:pt x="1062" y="42662"/>
                    <a:pt x="475" y="38934"/>
                  </a:cubicBezTo>
                  <a:lnTo>
                    <a:pt x="446" y="38747"/>
                  </a:lnTo>
                  <a:cubicBezTo>
                    <a:pt x="-151" y="34960"/>
                    <a:pt x="-148" y="31103"/>
                    <a:pt x="454" y="27316"/>
                  </a:cubicBezTo>
                  <a:lnTo>
                    <a:pt x="460" y="27278"/>
                  </a:lnTo>
                  <a:cubicBezTo>
                    <a:pt x="1057" y="23519"/>
                    <a:pt x="2267" y="19883"/>
                    <a:pt x="4040" y="16516"/>
                  </a:cubicBezTo>
                  <a:lnTo>
                    <a:pt x="4150" y="16307"/>
                  </a:lnTo>
                  <a:cubicBezTo>
                    <a:pt x="5850" y="13080"/>
                    <a:pt x="8094" y="10170"/>
                    <a:pt x="10784" y="7707"/>
                  </a:cubicBezTo>
                  <a:lnTo>
                    <a:pt x="10897" y="7603"/>
                  </a:lnTo>
                  <a:cubicBezTo>
                    <a:pt x="13510" y="5211"/>
                    <a:pt x="16533" y="3310"/>
                    <a:pt x="19822" y="1992"/>
                  </a:cubicBezTo>
                  <a:lnTo>
                    <a:pt x="19824" y="1992"/>
                  </a:lnTo>
                  <a:cubicBezTo>
                    <a:pt x="23108" y="676"/>
                    <a:pt x="26614" y="0"/>
                    <a:pt x="30152" y="0"/>
                  </a:cubicBezTo>
                  <a:lnTo>
                    <a:pt x="30152" y="0"/>
                  </a:lnTo>
                  <a:cubicBezTo>
                    <a:pt x="33690" y="0"/>
                    <a:pt x="37196" y="676"/>
                    <a:pt x="40480" y="1992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199" y="-28525"/>
              <a:ext cx="42816" cy="85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29029" y="8105742"/>
            <a:ext cx="247565" cy="267203"/>
            <a:chOff x="0" y="0"/>
            <a:chExt cx="61214" cy="66167"/>
          </a:xfrm>
        </p:grpSpPr>
        <p:sp>
          <p:nvSpPr>
            <p:cNvPr id="28" name="Freeform 28"/>
            <p:cNvSpPr/>
            <p:nvPr/>
          </p:nvSpPr>
          <p:spPr>
            <a:xfrm>
              <a:off x="455" y="0"/>
              <a:ext cx="60304" cy="66062"/>
            </a:xfrm>
            <a:custGeom>
              <a:avLst/>
              <a:gdLst/>
              <a:ahLst/>
              <a:cxnLst/>
              <a:rect l="l" t="t" r="r" b="b"/>
              <a:pathLst>
                <a:path w="60304" h="66062">
                  <a:moveTo>
                    <a:pt x="40480" y="1992"/>
                  </a:moveTo>
                  <a:lnTo>
                    <a:pt x="40482" y="1992"/>
                  </a:lnTo>
                  <a:cubicBezTo>
                    <a:pt x="43771" y="3310"/>
                    <a:pt x="46794" y="5211"/>
                    <a:pt x="49407" y="7603"/>
                  </a:cubicBezTo>
                  <a:lnTo>
                    <a:pt x="49520" y="7707"/>
                  </a:lnTo>
                  <a:cubicBezTo>
                    <a:pt x="52210" y="10170"/>
                    <a:pt x="54454" y="13080"/>
                    <a:pt x="56154" y="16307"/>
                  </a:cubicBezTo>
                  <a:lnTo>
                    <a:pt x="56264" y="16516"/>
                  </a:lnTo>
                  <a:cubicBezTo>
                    <a:pt x="58037" y="19883"/>
                    <a:pt x="59247" y="23519"/>
                    <a:pt x="59844" y="27278"/>
                  </a:cubicBezTo>
                  <a:lnTo>
                    <a:pt x="59850" y="27316"/>
                  </a:lnTo>
                  <a:cubicBezTo>
                    <a:pt x="60452" y="31103"/>
                    <a:pt x="60455" y="34960"/>
                    <a:pt x="59858" y="38747"/>
                  </a:cubicBezTo>
                  <a:lnTo>
                    <a:pt x="59829" y="38934"/>
                  </a:lnTo>
                  <a:cubicBezTo>
                    <a:pt x="59242" y="42662"/>
                    <a:pt x="58037" y="46267"/>
                    <a:pt x="56264" y="49599"/>
                  </a:cubicBezTo>
                  <a:lnTo>
                    <a:pt x="56175" y="49766"/>
                  </a:lnTo>
                  <a:cubicBezTo>
                    <a:pt x="54461" y="52987"/>
                    <a:pt x="52211" y="55891"/>
                    <a:pt x="49520" y="58355"/>
                  </a:cubicBezTo>
                  <a:lnTo>
                    <a:pt x="49407" y="58459"/>
                  </a:lnTo>
                  <a:cubicBezTo>
                    <a:pt x="46794" y="60852"/>
                    <a:pt x="43771" y="62752"/>
                    <a:pt x="40482" y="64070"/>
                  </a:cubicBezTo>
                  <a:lnTo>
                    <a:pt x="40480" y="64070"/>
                  </a:lnTo>
                  <a:cubicBezTo>
                    <a:pt x="37196" y="65386"/>
                    <a:pt x="33690" y="66062"/>
                    <a:pt x="30152" y="66062"/>
                  </a:cubicBezTo>
                  <a:lnTo>
                    <a:pt x="30152" y="66062"/>
                  </a:lnTo>
                  <a:cubicBezTo>
                    <a:pt x="26614" y="66062"/>
                    <a:pt x="23108" y="65386"/>
                    <a:pt x="19824" y="64070"/>
                  </a:cubicBezTo>
                  <a:lnTo>
                    <a:pt x="19822" y="64070"/>
                  </a:lnTo>
                  <a:cubicBezTo>
                    <a:pt x="16533" y="62752"/>
                    <a:pt x="13510" y="60852"/>
                    <a:pt x="10897" y="58459"/>
                  </a:cubicBezTo>
                  <a:lnTo>
                    <a:pt x="10784" y="58355"/>
                  </a:lnTo>
                  <a:cubicBezTo>
                    <a:pt x="8093" y="55891"/>
                    <a:pt x="5843" y="52987"/>
                    <a:pt x="4129" y="49766"/>
                  </a:cubicBezTo>
                  <a:lnTo>
                    <a:pt x="4040" y="49599"/>
                  </a:lnTo>
                  <a:cubicBezTo>
                    <a:pt x="2267" y="46267"/>
                    <a:pt x="1062" y="42662"/>
                    <a:pt x="475" y="38934"/>
                  </a:cubicBezTo>
                  <a:lnTo>
                    <a:pt x="446" y="38747"/>
                  </a:lnTo>
                  <a:cubicBezTo>
                    <a:pt x="-151" y="34960"/>
                    <a:pt x="-148" y="31103"/>
                    <a:pt x="454" y="27316"/>
                  </a:cubicBezTo>
                  <a:lnTo>
                    <a:pt x="460" y="27278"/>
                  </a:lnTo>
                  <a:cubicBezTo>
                    <a:pt x="1057" y="23519"/>
                    <a:pt x="2267" y="19883"/>
                    <a:pt x="4040" y="16516"/>
                  </a:cubicBezTo>
                  <a:lnTo>
                    <a:pt x="4150" y="16307"/>
                  </a:lnTo>
                  <a:cubicBezTo>
                    <a:pt x="5850" y="13080"/>
                    <a:pt x="8094" y="10170"/>
                    <a:pt x="10784" y="7707"/>
                  </a:cubicBezTo>
                  <a:lnTo>
                    <a:pt x="10897" y="7603"/>
                  </a:lnTo>
                  <a:cubicBezTo>
                    <a:pt x="13510" y="5211"/>
                    <a:pt x="16533" y="3310"/>
                    <a:pt x="19822" y="1992"/>
                  </a:cubicBezTo>
                  <a:lnTo>
                    <a:pt x="19824" y="1992"/>
                  </a:lnTo>
                  <a:cubicBezTo>
                    <a:pt x="23108" y="676"/>
                    <a:pt x="26614" y="0"/>
                    <a:pt x="30152" y="0"/>
                  </a:cubicBezTo>
                  <a:lnTo>
                    <a:pt x="30152" y="0"/>
                  </a:lnTo>
                  <a:cubicBezTo>
                    <a:pt x="33690" y="0"/>
                    <a:pt x="37196" y="676"/>
                    <a:pt x="40480" y="1992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199" y="-28525"/>
              <a:ext cx="42816" cy="85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43200" y="1038804"/>
            <a:ext cx="13346872" cy="8964872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560411" y="1333429"/>
            <a:ext cx="4765596" cy="85038"/>
            <a:chOff x="0" y="0"/>
            <a:chExt cx="1255136" cy="223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5136" cy="22397"/>
            </a:xfrm>
            <a:custGeom>
              <a:avLst/>
              <a:gdLst/>
              <a:ahLst/>
              <a:cxnLst/>
              <a:rect l="l" t="t" r="r" b="b"/>
              <a:pathLst>
                <a:path w="1255136" h="22397">
                  <a:moveTo>
                    <a:pt x="0" y="0"/>
                  </a:moveTo>
                  <a:lnTo>
                    <a:pt x="1255136" y="0"/>
                  </a:lnTo>
                  <a:lnTo>
                    <a:pt x="1255136" y="22397"/>
                  </a:lnTo>
                  <a:lnTo>
                    <a:pt x="0" y="22397"/>
                  </a:lnTo>
                  <a:close/>
                </a:path>
              </a:pathLst>
            </a:custGeom>
            <a:solidFill>
              <a:srgbClr val="F4C54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5136" cy="604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00676" y="744179"/>
            <a:ext cx="656048" cy="589250"/>
          </a:xfrm>
          <a:custGeom>
            <a:avLst/>
            <a:gdLst/>
            <a:ahLst/>
            <a:cxnLst/>
            <a:rect l="l" t="t" r="r" b="b"/>
            <a:pathLst>
              <a:path w="656048" h="589250">
                <a:moveTo>
                  <a:pt x="0" y="0"/>
                </a:moveTo>
                <a:lnTo>
                  <a:pt x="656048" y="0"/>
                </a:lnTo>
                <a:lnTo>
                  <a:pt x="656048" y="589251"/>
                </a:lnTo>
                <a:lnTo>
                  <a:pt x="0" y="589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70846" y="463597"/>
            <a:ext cx="5006154" cy="1028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682572" y="4516350"/>
            <a:ext cx="4162765" cy="2023742"/>
            <a:chOff x="0" y="0"/>
            <a:chExt cx="1387997" cy="67477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" name="Freeform 3"/>
            <p:cNvSpPr/>
            <p:nvPr/>
          </p:nvSpPr>
          <p:spPr>
            <a:xfrm>
              <a:off x="0" y="0"/>
              <a:ext cx="1387997" cy="674779"/>
            </a:xfrm>
            <a:custGeom>
              <a:avLst/>
              <a:gdLst/>
              <a:ahLst/>
              <a:cxnLst/>
              <a:rect l="l" t="t" r="r" b="b"/>
              <a:pathLst>
                <a:path w="1387997" h="674779">
                  <a:moveTo>
                    <a:pt x="0" y="0"/>
                  </a:moveTo>
                  <a:lnTo>
                    <a:pt x="1387997" y="0"/>
                  </a:lnTo>
                  <a:lnTo>
                    <a:pt x="1387997" y="674779"/>
                  </a:lnTo>
                  <a:lnTo>
                    <a:pt x="0" y="674779"/>
                  </a:lnTo>
                  <a:close/>
                </a:path>
              </a:pathLst>
            </a:custGeom>
            <a:gradFill rotWithShape="1">
              <a:gsLst>
                <a:gs pos="0">
                  <a:srgbClr val="FFF2CC">
                    <a:alpha val="100000"/>
                  </a:srgbClr>
                </a:gs>
                <a:gs pos="100000">
                  <a:srgbClr val="FFD966">
                    <a:alpha val="100000"/>
                  </a:srgbClr>
                </a:gs>
              </a:gsLst>
              <a:lin ang="5400000"/>
            </a:gradFill>
            <a:ln w="381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87997" cy="712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333174" y="6512148"/>
            <a:ext cx="313318" cy="2338698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675055" y="721641"/>
            <a:ext cx="7694337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Data Preprocessing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918664" y="1606115"/>
            <a:ext cx="3063922" cy="108138"/>
            <a:chOff x="0" y="0"/>
            <a:chExt cx="806959" cy="2821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06959" cy="28217"/>
            </a:xfrm>
            <a:custGeom>
              <a:avLst/>
              <a:gdLst/>
              <a:ahLst/>
              <a:cxnLst/>
              <a:rect l="l" t="t" r="r" b="b"/>
              <a:pathLst>
                <a:path w="806959" h="28217">
                  <a:moveTo>
                    <a:pt x="0" y="0"/>
                  </a:moveTo>
                  <a:lnTo>
                    <a:pt x="806959" y="0"/>
                  </a:lnTo>
                  <a:lnTo>
                    <a:pt x="806959" y="28217"/>
                  </a:lnTo>
                  <a:lnTo>
                    <a:pt x="0" y="28217"/>
                  </a:lnTo>
                  <a:close/>
                </a:path>
              </a:pathLst>
            </a:custGeom>
            <a:solidFill>
              <a:srgbClr val="F4C54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06959" cy="66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51878" y="8127093"/>
            <a:ext cx="199634" cy="215470"/>
            <a:chOff x="0" y="0"/>
            <a:chExt cx="61214" cy="66167"/>
          </a:xfrm>
        </p:grpSpPr>
        <p:sp>
          <p:nvSpPr>
            <p:cNvPr id="11" name="Freeform 11"/>
            <p:cNvSpPr/>
            <p:nvPr/>
          </p:nvSpPr>
          <p:spPr>
            <a:xfrm>
              <a:off x="455" y="0"/>
              <a:ext cx="60304" cy="66062"/>
            </a:xfrm>
            <a:custGeom>
              <a:avLst/>
              <a:gdLst/>
              <a:ahLst/>
              <a:cxnLst/>
              <a:rect l="l" t="t" r="r" b="b"/>
              <a:pathLst>
                <a:path w="60304" h="66062">
                  <a:moveTo>
                    <a:pt x="40480" y="1992"/>
                  </a:moveTo>
                  <a:lnTo>
                    <a:pt x="40482" y="1992"/>
                  </a:lnTo>
                  <a:cubicBezTo>
                    <a:pt x="43771" y="3310"/>
                    <a:pt x="46794" y="5211"/>
                    <a:pt x="49407" y="7603"/>
                  </a:cubicBezTo>
                  <a:lnTo>
                    <a:pt x="49520" y="7707"/>
                  </a:lnTo>
                  <a:cubicBezTo>
                    <a:pt x="52210" y="10170"/>
                    <a:pt x="54454" y="13080"/>
                    <a:pt x="56154" y="16307"/>
                  </a:cubicBezTo>
                  <a:lnTo>
                    <a:pt x="56264" y="16516"/>
                  </a:lnTo>
                  <a:cubicBezTo>
                    <a:pt x="58037" y="19883"/>
                    <a:pt x="59247" y="23519"/>
                    <a:pt x="59844" y="27278"/>
                  </a:cubicBezTo>
                  <a:lnTo>
                    <a:pt x="59850" y="27316"/>
                  </a:lnTo>
                  <a:cubicBezTo>
                    <a:pt x="60452" y="31103"/>
                    <a:pt x="60455" y="34960"/>
                    <a:pt x="59858" y="38747"/>
                  </a:cubicBezTo>
                  <a:lnTo>
                    <a:pt x="59829" y="38934"/>
                  </a:lnTo>
                  <a:cubicBezTo>
                    <a:pt x="59242" y="42662"/>
                    <a:pt x="58037" y="46267"/>
                    <a:pt x="56264" y="49599"/>
                  </a:cubicBezTo>
                  <a:lnTo>
                    <a:pt x="56175" y="49766"/>
                  </a:lnTo>
                  <a:cubicBezTo>
                    <a:pt x="54461" y="52987"/>
                    <a:pt x="52211" y="55891"/>
                    <a:pt x="49520" y="58355"/>
                  </a:cubicBezTo>
                  <a:lnTo>
                    <a:pt x="49407" y="58459"/>
                  </a:lnTo>
                  <a:cubicBezTo>
                    <a:pt x="46794" y="60852"/>
                    <a:pt x="43771" y="62752"/>
                    <a:pt x="40482" y="64070"/>
                  </a:cubicBezTo>
                  <a:lnTo>
                    <a:pt x="40480" y="64070"/>
                  </a:lnTo>
                  <a:cubicBezTo>
                    <a:pt x="37196" y="65386"/>
                    <a:pt x="33690" y="66062"/>
                    <a:pt x="30152" y="66062"/>
                  </a:cubicBezTo>
                  <a:lnTo>
                    <a:pt x="30152" y="66062"/>
                  </a:lnTo>
                  <a:cubicBezTo>
                    <a:pt x="26614" y="66062"/>
                    <a:pt x="23108" y="65386"/>
                    <a:pt x="19824" y="64070"/>
                  </a:cubicBezTo>
                  <a:lnTo>
                    <a:pt x="19822" y="64070"/>
                  </a:lnTo>
                  <a:cubicBezTo>
                    <a:pt x="16533" y="62752"/>
                    <a:pt x="13510" y="60852"/>
                    <a:pt x="10897" y="58459"/>
                  </a:cubicBezTo>
                  <a:lnTo>
                    <a:pt x="10784" y="58355"/>
                  </a:lnTo>
                  <a:cubicBezTo>
                    <a:pt x="8093" y="55891"/>
                    <a:pt x="5843" y="52987"/>
                    <a:pt x="4129" y="49766"/>
                  </a:cubicBezTo>
                  <a:lnTo>
                    <a:pt x="4040" y="49599"/>
                  </a:lnTo>
                  <a:cubicBezTo>
                    <a:pt x="2267" y="46267"/>
                    <a:pt x="1062" y="42662"/>
                    <a:pt x="475" y="38934"/>
                  </a:cubicBezTo>
                  <a:lnTo>
                    <a:pt x="446" y="38747"/>
                  </a:lnTo>
                  <a:cubicBezTo>
                    <a:pt x="-151" y="34960"/>
                    <a:pt x="-148" y="31103"/>
                    <a:pt x="454" y="27316"/>
                  </a:cubicBezTo>
                  <a:lnTo>
                    <a:pt x="460" y="27278"/>
                  </a:lnTo>
                  <a:cubicBezTo>
                    <a:pt x="1057" y="23519"/>
                    <a:pt x="2267" y="19883"/>
                    <a:pt x="4040" y="16516"/>
                  </a:cubicBezTo>
                  <a:lnTo>
                    <a:pt x="4150" y="16307"/>
                  </a:lnTo>
                  <a:cubicBezTo>
                    <a:pt x="5850" y="13080"/>
                    <a:pt x="8094" y="10170"/>
                    <a:pt x="10784" y="7707"/>
                  </a:cubicBezTo>
                  <a:lnTo>
                    <a:pt x="10897" y="7603"/>
                  </a:lnTo>
                  <a:cubicBezTo>
                    <a:pt x="13510" y="5211"/>
                    <a:pt x="16533" y="3310"/>
                    <a:pt x="19822" y="1992"/>
                  </a:cubicBezTo>
                  <a:lnTo>
                    <a:pt x="19824" y="1992"/>
                  </a:lnTo>
                  <a:cubicBezTo>
                    <a:pt x="23108" y="676"/>
                    <a:pt x="26614" y="0"/>
                    <a:pt x="30152" y="0"/>
                  </a:cubicBezTo>
                  <a:lnTo>
                    <a:pt x="30152" y="0"/>
                  </a:lnTo>
                  <a:cubicBezTo>
                    <a:pt x="33690" y="0"/>
                    <a:pt x="37196" y="676"/>
                    <a:pt x="40480" y="1992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199" y="-28525"/>
              <a:ext cx="42816" cy="85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51878" y="2758189"/>
            <a:ext cx="199634" cy="215470"/>
            <a:chOff x="0" y="0"/>
            <a:chExt cx="61214" cy="66167"/>
          </a:xfrm>
        </p:grpSpPr>
        <p:sp>
          <p:nvSpPr>
            <p:cNvPr id="14" name="Freeform 14"/>
            <p:cNvSpPr/>
            <p:nvPr/>
          </p:nvSpPr>
          <p:spPr>
            <a:xfrm>
              <a:off x="455" y="0"/>
              <a:ext cx="60304" cy="66062"/>
            </a:xfrm>
            <a:custGeom>
              <a:avLst/>
              <a:gdLst/>
              <a:ahLst/>
              <a:cxnLst/>
              <a:rect l="l" t="t" r="r" b="b"/>
              <a:pathLst>
                <a:path w="60304" h="66062">
                  <a:moveTo>
                    <a:pt x="40480" y="1992"/>
                  </a:moveTo>
                  <a:lnTo>
                    <a:pt x="40482" y="1992"/>
                  </a:lnTo>
                  <a:cubicBezTo>
                    <a:pt x="43771" y="3310"/>
                    <a:pt x="46794" y="5211"/>
                    <a:pt x="49407" y="7603"/>
                  </a:cubicBezTo>
                  <a:lnTo>
                    <a:pt x="49520" y="7707"/>
                  </a:lnTo>
                  <a:cubicBezTo>
                    <a:pt x="52210" y="10170"/>
                    <a:pt x="54454" y="13080"/>
                    <a:pt x="56154" y="16307"/>
                  </a:cubicBezTo>
                  <a:lnTo>
                    <a:pt x="56264" y="16516"/>
                  </a:lnTo>
                  <a:cubicBezTo>
                    <a:pt x="58037" y="19883"/>
                    <a:pt x="59247" y="23519"/>
                    <a:pt x="59844" y="27278"/>
                  </a:cubicBezTo>
                  <a:lnTo>
                    <a:pt x="59850" y="27316"/>
                  </a:lnTo>
                  <a:cubicBezTo>
                    <a:pt x="60452" y="31103"/>
                    <a:pt x="60455" y="34960"/>
                    <a:pt x="59858" y="38747"/>
                  </a:cubicBezTo>
                  <a:lnTo>
                    <a:pt x="59829" y="38934"/>
                  </a:lnTo>
                  <a:cubicBezTo>
                    <a:pt x="59242" y="42662"/>
                    <a:pt x="58037" y="46267"/>
                    <a:pt x="56264" y="49599"/>
                  </a:cubicBezTo>
                  <a:lnTo>
                    <a:pt x="56175" y="49766"/>
                  </a:lnTo>
                  <a:cubicBezTo>
                    <a:pt x="54461" y="52987"/>
                    <a:pt x="52211" y="55891"/>
                    <a:pt x="49520" y="58355"/>
                  </a:cubicBezTo>
                  <a:lnTo>
                    <a:pt x="49407" y="58459"/>
                  </a:lnTo>
                  <a:cubicBezTo>
                    <a:pt x="46794" y="60852"/>
                    <a:pt x="43771" y="62752"/>
                    <a:pt x="40482" y="64070"/>
                  </a:cubicBezTo>
                  <a:lnTo>
                    <a:pt x="40480" y="64070"/>
                  </a:lnTo>
                  <a:cubicBezTo>
                    <a:pt x="37196" y="65386"/>
                    <a:pt x="33690" y="66062"/>
                    <a:pt x="30152" y="66062"/>
                  </a:cubicBezTo>
                  <a:lnTo>
                    <a:pt x="30152" y="66062"/>
                  </a:lnTo>
                  <a:cubicBezTo>
                    <a:pt x="26614" y="66062"/>
                    <a:pt x="23108" y="65386"/>
                    <a:pt x="19824" y="64070"/>
                  </a:cubicBezTo>
                  <a:lnTo>
                    <a:pt x="19822" y="64070"/>
                  </a:lnTo>
                  <a:cubicBezTo>
                    <a:pt x="16533" y="62752"/>
                    <a:pt x="13510" y="60852"/>
                    <a:pt x="10897" y="58459"/>
                  </a:cubicBezTo>
                  <a:lnTo>
                    <a:pt x="10784" y="58355"/>
                  </a:lnTo>
                  <a:cubicBezTo>
                    <a:pt x="8093" y="55891"/>
                    <a:pt x="5843" y="52987"/>
                    <a:pt x="4129" y="49766"/>
                  </a:cubicBezTo>
                  <a:lnTo>
                    <a:pt x="4040" y="49599"/>
                  </a:lnTo>
                  <a:cubicBezTo>
                    <a:pt x="2267" y="46267"/>
                    <a:pt x="1062" y="42662"/>
                    <a:pt x="475" y="38934"/>
                  </a:cubicBezTo>
                  <a:lnTo>
                    <a:pt x="446" y="38747"/>
                  </a:lnTo>
                  <a:cubicBezTo>
                    <a:pt x="-151" y="34960"/>
                    <a:pt x="-148" y="31103"/>
                    <a:pt x="454" y="27316"/>
                  </a:cubicBezTo>
                  <a:lnTo>
                    <a:pt x="460" y="27278"/>
                  </a:lnTo>
                  <a:cubicBezTo>
                    <a:pt x="1057" y="23519"/>
                    <a:pt x="2267" y="19883"/>
                    <a:pt x="4040" y="16516"/>
                  </a:cubicBezTo>
                  <a:lnTo>
                    <a:pt x="4150" y="16307"/>
                  </a:lnTo>
                  <a:cubicBezTo>
                    <a:pt x="5850" y="13080"/>
                    <a:pt x="8094" y="10170"/>
                    <a:pt x="10784" y="7707"/>
                  </a:cubicBezTo>
                  <a:lnTo>
                    <a:pt x="10897" y="7603"/>
                  </a:lnTo>
                  <a:cubicBezTo>
                    <a:pt x="13510" y="5211"/>
                    <a:pt x="16533" y="3310"/>
                    <a:pt x="19822" y="1992"/>
                  </a:cubicBezTo>
                  <a:lnTo>
                    <a:pt x="19824" y="1992"/>
                  </a:lnTo>
                  <a:cubicBezTo>
                    <a:pt x="23108" y="676"/>
                    <a:pt x="26614" y="0"/>
                    <a:pt x="30152" y="0"/>
                  </a:cubicBezTo>
                  <a:lnTo>
                    <a:pt x="30152" y="0"/>
                  </a:lnTo>
                  <a:cubicBezTo>
                    <a:pt x="33690" y="0"/>
                    <a:pt x="37196" y="676"/>
                    <a:pt x="40480" y="1992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99" y="-28525"/>
              <a:ext cx="42816" cy="85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028700" y="1048690"/>
            <a:ext cx="646355" cy="648083"/>
          </a:xfrm>
          <a:custGeom>
            <a:avLst/>
            <a:gdLst/>
            <a:ahLst/>
            <a:cxnLst/>
            <a:rect l="l" t="t" r="r" b="b"/>
            <a:pathLst>
              <a:path w="646355" h="648083">
                <a:moveTo>
                  <a:pt x="0" y="0"/>
                </a:moveTo>
                <a:lnTo>
                  <a:pt x="646355" y="0"/>
                </a:lnTo>
                <a:lnTo>
                  <a:pt x="646355" y="648083"/>
                </a:lnTo>
                <a:lnTo>
                  <a:pt x="0" y="6480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5334000" y="1606361"/>
            <a:ext cx="3399948" cy="108139"/>
            <a:chOff x="0" y="0"/>
            <a:chExt cx="895460" cy="2848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95460" cy="28481"/>
            </a:xfrm>
            <a:custGeom>
              <a:avLst/>
              <a:gdLst/>
              <a:ahLst/>
              <a:cxnLst/>
              <a:rect l="l" t="t" r="r" b="b"/>
              <a:pathLst>
                <a:path w="895460" h="28481">
                  <a:moveTo>
                    <a:pt x="0" y="0"/>
                  </a:moveTo>
                  <a:lnTo>
                    <a:pt x="895460" y="0"/>
                  </a:lnTo>
                  <a:lnTo>
                    <a:pt x="895460" y="28481"/>
                  </a:lnTo>
                  <a:lnTo>
                    <a:pt x="0" y="28481"/>
                  </a:lnTo>
                  <a:close/>
                </a:path>
              </a:pathLst>
            </a:custGeom>
            <a:solidFill>
              <a:srgbClr val="F4C54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95460" cy="665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3333174" y="2316536"/>
            <a:ext cx="320895" cy="2395254"/>
          </a:xfrm>
          <a:prstGeom prst="rect">
            <a:avLst/>
          </a:prstGeom>
        </p:spPr>
      </p:pic>
      <p:sp>
        <p:nvSpPr>
          <p:cNvPr id="21" name="Freeform 21"/>
          <p:cNvSpPr/>
          <p:nvPr/>
        </p:nvSpPr>
        <p:spPr>
          <a:xfrm>
            <a:off x="2413266" y="3398936"/>
            <a:ext cx="6217915" cy="4159872"/>
          </a:xfrm>
          <a:custGeom>
            <a:avLst/>
            <a:gdLst/>
            <a:ahLst/>
            <a:cxnLst/>
            <a:rect l="l" t="t" r="r" b="b"/>
            <a:pathLst>
              <a:path w="6217915" h="4159872">
                <a:moveTo>
                  <a:pt x="0" y="0"/>
                </a:moveTo>
                <a:lnTo>
                  <a:pt x="6217915" y="0"/>
                </a:lnTo>
                <a:lnTo>
                  <a:pt x="6217915" y="4159872"/>
                </a:lnTo>
                <a:lnTo>
                  <a:pt x="0" y="41598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9525" cap="sq">
            <a:solidFill>
              <a:schemeClr val="tx1"/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2" name="TextBox 22"/>
          <p:cNvSpPr txBox="1"/>
          <p:nvPr/>
        </p:nvSpPr>
        <p:spPr>
          <a:xfrm>
            <a:off x="13654070" y="7092728"/>
            <a:ext cx="3828642" cy="1252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5809" lvl="1" indent="-127904" algn="l">
              <a:lnSpc>
                <a:spcPts val="1658"/>
              </a:lnSpc>
              <a:buFont typeface="Arial"/>
              <a:buChar char="•"/>
            </a:pPr>
            <a:r>
              <a:rPr lang="en-US" sz="1184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grievance_text</a:t>
            </a:r>
            <a:r>
              <a:rPr lang="en-US" sz="1184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184">
                <a:solidFill>
                  <a:srgbClr val="4A90E2"/>
                </a:solidFill>
                <a:latin typeface="Merriweather"/>
                <a:ea typeface="Merriweather"/>
                <a:cs typeface="Merriweather"/>
                <a:sym typeface="Merriweather"/>
              </a:rPr>
              <a:t>= “I further to informing ...”</a:t>
            </a:r>
          </a:p>
          <a:p>
            <a:pPr marL="255809" lvl="1" indent="-127904" algn="l">
              <a:lnSpc>
                <a:spcPts val="1658"/>
              </a:lnSpc>
              <a:buFont typeface="Arial"/>
              <a:buChar char="•"/>
            </a:pPr>
            <a:r>
              <a:rPr lang="en-US" sz="1184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grievance_text_processed</a:t>
            </a:r>
            <a:r>
              <a:rPr lang="en-US" sz="1184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184">
                <a:solidFill>
                  <a:srgbClr val="4A90E2"/>
                </a:solidFill>
                <a:latin typeface="Merriweather"/>
                <a:ea typeface="Merriweather"/>
                <a:cs typeface="Merriweather"/>
                <a:sym typeface="Merriweather"/>
              </a:rPr>
              <a:t>= “informing temporary railway line crossing near madhyamgram station bt end bad condition stones side line moved far enough cause great danger ...”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646493" y="2868274"/>
            <a:ext cx="3828642" cy="1042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5809" lvl="1" indent="-127904" algn="l">
              <a:lnSpc>
                <a:spcPts val="1658"/>
              </a:lnSpc>
              <a:buFont typeface="Arial"/>
              <a:buChar char="•"/>
            </a:pPr>
            <a:r>
              <a:rPr lang="en-US" sz="1184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grievance_text</a:t>
            </a:r>
            <a:r>
              <a:rPr lang="en-US" sz="1184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lang="en-US" sz="1184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= “I further to informing you that the temporary railway line crossing near Madhyamgram station BT end. is in a very bad condition. The stones on the side of the line have been moved far enough to cause great danger ...”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151062" y="4686660"/>
            <a:ext cx="3295176" cy="408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7"/>
              </a:lnSpc>
              <a:spcBef>
                <a:spcPct val="0"/>
              </a:spcBef>
            </a:pPr>
            <a:r>
              <a:rPr lang="en-US" sz="2369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Data Preprocessing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185757" y="5133417"/>
            <a:ext cx="3225786" cy="116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7"/>
              </a:lnSpc>
              <a:spcBef>
                <a:spcPct val="0"/>
              </a:spcBef>
            </a:pPr>
            <a:r>
              <a:rPr lang="en-US" sz="1676">
                <a:solidFill>
                  <a:srgbClr val="1F1F1F"/>
                </a:solidFill>
                <a:latin typeface="Merriweather"/>
                <a:ea typeface="Merriweather"/>
                <a:cs typeface="Merriweather"/>
                <a:sym typeface="Merriweather"/>
              </a:rPr>
              <a:t>Case Normalization, HTML Tag Removal,  URL Removal, Punctuation Removal, Stopword Removal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75055" y="8059635"/>
            <a:ext cx="9136406" cy="154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The grievance text is cleaned using standard NLP preprocessing: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converting text to lowercase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removing HTML tags, URLs, and punctuation</a:t>
            </a:r>
          </a:p>
          <a:p>
            <a:pPr marL="474978" lvl="1" indent="-237489" algn="l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removing stopwords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75055" y="2668756"/>
            <a:ext cx="9136406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Initial filtering is applied to ensure data quality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249921" y="5543639"/>
            <a:ext cx="180906" cy="2519757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2011971" y="4505597"/>
            <a:ext cx="4270429" cy="2076083"/>
            <a:chOff x="0" y="0"/>
            <a:chExt cx="1387997" cy="67477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" name="Freeform 4"/>
            <p:cNvSpPr/>
            <p:nvPr/>
          </p:nvSpPr>
          <p:spPr>
            <a:xfrm>
              <a:off x="0" y="0"/>
              <a:ext cx="1387997" cy="674779"/>
            </a:xfrm>
            <a:custGeom>
              <a:avLst/>
              <a:gdLst/>
              <a:ahLst/>
              <a:cxnLst/>
              <a:rect l="l" t="t" r="r" b="b"/>
              <a:pathLst>
                <a:path w="1387997" h="674779">
                  <a:moveTo>
                    <a:pt x="0" y="0"/>
                  </a:moveTo>
                  <a:lnTo>
                    <a:pt x="1387997" y="0"/>
                  </a:lnTo>
                  <a:lnTo>
                    <a:pt x="1387997" y="674779"/>
                  </a:lnTo>
                  <a:lnTo>
                    <a:pt x="0" y="674779"/>
                  </a:lnTo>
                  <a:close/>
                </a:path>
              </a:pathLst>
            </a:custGeom>
            <a:gradFill rotWithShape="1">
              <a:gsLst>
                <a:gs pos="0">
                  <a:srgbClr val="FFF2CC">
                    <a:alpha val="100000"/>
                  </a:srgbClr>
                </a:gs>
                <a:gs pos="100000">
                  <a:srgbClr val="FFD966">
                    <a:alpha val="100000"/>
                  </a:srgbClr>
                </a:gs>
              </a:gsLst>
              <a:lin ang="5400000"/>
            </a:gradFill>
            <a:ln w="381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87997" cy="712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211110" y="4620763"/>
            <a:ext cx="1797079" cy="1768976"/>
            <a:chOff x="0" y="0"/>
            <a:chExt cx="584096" cy="57496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Freeform 7"/>
            <p:cNvSpPr/>
            <p:nvPr/>
          </p:nvSpPr>
          <p:spPr>
            <a:xfrm>
              <a:off x="0" y="0"/>
              <a:ext cx="584096" cy="574962"/>
            </a:xfrm>
            <a:custGeom>
              <a:avLst/>
              <a:gdLst/>
              <a:ahLst/>
              <a:cxnLst/>
              <a:rect l="l" t="t" r="r" b="b"/>
              <a:pathLst>
                <a:path w="584096" h="574962">
                  <a:moveTo>
                    <a:pt x="0" y="0"/>
                  </a:moveTo>
                  <a:lnTo>
                    <a:pt x="584096" y="0"/>
                  </a:lnTo>
                  <a:lnTo>
                    <a:pt x="584096" y="574962"/>
                  </a:lnTo>
                  <a:lnTo>
                    <a:pt x="0" y="574962"/>
                  </a:lnTo>
                  <a:close/>
                </a:path>
              </a:pathLst>
            </a:custGeom>
            <a:gradFill rotWithShape="1">
              <a:gsLst>
                <a:gs pos="0">
                  <a:srgbClr val="FFF2CC">
                    <a:alpha val="100000"/>
                  </a:srgbClr>
                </a:gs>
                <a:gs pos="100000">
                  <a:srgbClr val="FFD966">
                    <a:alpha val="100000"/>
                  </a:srgbClr>
                </a:gs>
              </a:gsLst>
              <a:lin ang="5400000"/>
            </a:gradFill>
            <a:ln w="381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84096" cy="6130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147186" y="4620763"/>
            <a:ext cx="1963832" cy="1768976"/>
            <a:chOff x="0" y="0"/>
            <a:chExt cx="638295" cy="5874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8295" cy="587439"/>
            </a:xfrm>
            <a:custGeom>
              <a:avLst/>
              <a:gdLst/>
              <a:ahLst/>
              <a:cxnLst/>
              <a:rect l="l" t="t" r="r" b="b"/>
              <a:pathLst>
                <a:path w="638295" h="587439">
                  <a:moveTo>
                    <a:pt x="0" y="0"/>
                  </a:moveTo>
                  <a:lnTo>
                    <a:pt x="638295" y="0"/>
                  </a:lnTo>
                  <a:lnTo>
                    <a:pt x="638295" y="587439"/>
                  </a:lnTo>
                  <a:lnTo>
                    <a:pt x="0" y="587439"/>
                  </a:lnTo>
                  <a:close/>
                </a:path>
              </a:pathLst>
            </a:custGeom>
            <a:gradFill rotWithShape="1">
              <a:gsLst>
                <a:gs pos="0">
                  <a:srgbClr val="FFF2CC">
                    <a:alpha val="100000"/>
                  </a:srgbClr>
                </a:gs>
                <a:gs pos="100000">
                  <a:srgbClr val="FFD966">
                    <a:alpha val="100000"/>
                  </a:srgbClr>
                </a:gs>
              </a:gsLst>
              <a:lin ang="5400000"/>
            </a:gradFill>
            <a:ln w="381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638295" cy="625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908663" y="2805864"/>
            <a:ext cx="3927664" cy="1294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2425" lvl="1" indent="-131212" algn="l">
              <a:lnSpc>
                <a:spcPts val="1701"/>
              </a:lnSpc>
              <a:buFont typeface="Arial"/>
              <a:buChar char="•"/>
            </a:pPr>
            <a:r>
              <a:rPr lang="en-US" sz="1215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grievance_text</a:t>
            </a:r>
            <a:r>
              <a:rPr lang="en-US" sz="1215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215">
                <a:solidFill>
                  <a:srgbClr val="4A90E2"/>
                </a:solidFill>
                <a:latin typeface="Merriweather"/>
                <a:ea typeface="Merriweather"/>
                <a:cs typeface="Merriweather"/>
                <a:sym typeface="Merriweather"/>
              </a:rPr>
              <a:t>= “I further to informing ...”</a:t>
            </a:r>
          </a:p>
          <a:p>
            <a:pPr marL="262425" lvl="1" indent="-131212" algn="l">
              <a:lnSpc>
                <a:spcPts val="1701"/>
              </a:lnSpc>
              <a:buFont typeface="Arial"/>
              <a:buChar char="•"/>
            </a:pPr>
            <a:r>
              <a:rPr lang="en-US" sz="1215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grievance_text_processed</a:t>
            </a:r>
            <a:r>
              <a:rPr lang="en-US" sz="1215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215">
                <a:solidFill>
                  <a:srgbClr val="4A90E2"/>
                </a:solidFill>
                <a:latin typeface="Merriweather"/>
                <a:ea typeface="Merriweather"/>
                <a:cs typeface="Merriweather"/>
                <a:sym typeface="Merriweather"/>
              </a:rPr>
              <a:t>= “informing temporary railway line crossing near madhyamgram station bt end bad condition stones side line moved far enough cause great danger ...”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730778" y="2387287"/>
            <a:ext cx="309460" cy="2309898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5400000">
            <a:off x="12280483" y="6964558"/>
            <a:ext cx="271811" cy="2028877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1830388" y="1847983"/>
            <a:ext cx="2941204" cy="91526"/>
            <a:chOff x="0" y="0"/>
            <a:chExt cx="774638" cy="241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74638" cy="24106"/>
            </a:xfrm>
            <a:custGeom>
              <a:avLst/>
              <a:gdLst/>
              <a:ahLst/>
              <a:cxnLst/>
              <a:rect l="l" t="t" r="r" b="b"/>
              <a:pathLst>
                <a:path w="774638" h="24106">
                  <a:moveTo>
                    <a:pt x="0" y="0"/>
                  </a:moveTo>
                  <a:lnTo>
                    <a:pt x="774638" y="0"/>
                  </a:lnTo>
                  <a:lnTo>
                    <a:pt x="774638" y="24106"/>
                  </a:lnTo>
                  <a:lnTo>
                    <a:pt x="0" y="24106"/>
                  </a:lnTo>
                  <a:close/>
                </a:path>
              </a:pathLst>
            </a:custGeom>
            <a:solidFill>
              <a:srgbClr val="F4C54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774638" cy="62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23814" y="987375"/>
            <a:ext cx="761947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Anomaly Detection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239305" y="1847983"/>
            <a:ext cx="3844444" cy="91526"/>
            <a:chOff x="0" y="0"/>
            <a:chExt cx="1012528" cy="2410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12528" cy="24106"/>
            </a:xfrm>
            <a:custGeom>
              <a:avLst/>
              <a:gdLst/>
              <a:ahLst/>
              <a:cxnLst/>
              <a:rect l="l" t="t" r="r" b="b"/>
              <a:pathLst>
                <a:path w="1012528" h="24106">
                  <a:moveTo>
                    <a:pt x="0" y="0"/>
                  </a:moveTo>
                  <a:lnTo>
                    <a:pt x="1012528" y="0"/>
                  </a:lnTo>
                  <a:lnTo>
                    <a:pt x="1012528" y="24106"/>
                  </a:lnTo>
                  <a:lnTo>
                    <a:pt x="0" y="24106"/>
                  </a:lnTo>
                  <a:close/>
                </a:path>
              </a:pathLst>
            </a:custGeom>
            <a:solidFill>
              <a:srgbClr val="F4C542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12528" cy="622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19358" y="2826997"/>
            <a:ext cx="199634" cy="215470"/>
            <a:chOff x="0" y="0"/>
            <a:chExt cx="61214" cy="66167"/>
          </a:xfrm>
        </p:grpSpPr>
        <p:sp>
          <p:nvSpPr>
            <p:cNvPr id="23" name="Freeform 23"/>
            <p:cNvSpPr/>
            <p:nvPr/>
          </p:nvSpPr>
          <p:spPr>
            <a:xfrm>
              <a:off x="455" y="0"/>
              <a:ext cx="60304" cy="66062"/>
            </a:xfrm>
            <a:custGeom>
              <a:avLst/>
              <a:gdLst/>
              <a:ahLst/>
              <a:cxnLst/>
              <a:rect l="l" t="t" r="r" b="b"/>
              <a:pathLst>
                <a:path w="60304" h="66062">
                  <a:moveTo>
                    <a:pt x="40480" y="1992"/>
                  </a:moveTo>
                  <a:lnTo>
                    <a:pt x="40482" y="1992"/>
                  </a:lnTo>
                  <a:cubicBezTo>
                    <a:pt x="43771" y="3310"/>
                    <a:pt x="46794" y="5211"/>
                    <a:pt x="49407" y="7603"/>
                  </a:cubicBezTo>
                  <a:lnTo>
                    <a:pt x="49520" y="7707"/>
                  </a:lnTo>
                  <a:cubicBezTo>
                    <a:pt x="52210" y="10170"/>
                    <a:pt x="54454" y="13080"/>
                    <a:pt x="56154" y="16307"/>
                  </a:cubicBezTo>
                  <a:lnTo>
                    <a:pt x="56264" y="16516"/>
                  </a:lnTo>
                  <a:cubicBezTo>
                    <a:pt x="58037" y="19883"/>
                    <a:pt x="59247" y="23519"/>
                    <a:pt x="59844" y="27278"/>
                  </a:cubicBezTo>
                  <a:lnTo>
                    <a:pt x="59850" y="27316"/>
                  </a:lnTo>
                  <a:cubicBezTo>
                    <a:pt x="60452" y="31103"/>
                    <a:pt x="60455" y="34960"/>
                    <a:pt x="59858" y="38747"/>
                  </a:cubicBezTo>
                  <a:lnTo>
                    <a:pt x="59829" y="38934"/>
                  </a:lnTo>
                  <a:cubicBezTo>
                    <a:pt x="59242" y="42662"/>
                    <a:pt x="58037" y="46267"/>
                    <a:pt x="56264" y="49599"/>
                  </a:cubicBezTo>
                  <a:lnTo>
                    <a:pt x="56175" y="49766"/>
                  </a:lnTo>
                  <a:cubicBezTo>
                    <a:pt x="54461" y="52987"/>
                    <a:pt x="52211" y="55891"/>
                    <a:pt x="49520" y="58355"/>
                  </a:cubicBezTo>
                  <a:lnTo>
                    <a:pt x="49407" y="58459"/>
                  </a:lnTo>
                  <a:cubicBezTo>
                    <a:pt x="46794" y="60852"/>
                    <a:pt x="43771" y="62752"/>
                    <a:pt x="40482" y="64070"/>
                  </a:cubicBezTo>
                  <a:lnTo>
                    <a:pt x="40480" y="64070"/>
                  </a:lnTo>
                  <a:cubicBezTo>
                    <a:pt x="37196" y="65386"/>
                    <a:pt x="33690" y="66062"/>
                    <a:pt x="30152" y="66062"/>
                  </a:cubicBezTo>
                  <a:lnTo>
                    <a:pt x="30152" y="66062"/>
                  </a:lnTo>
                  <a:cubicBezTo>
                    <a:pt x="26614" y="66062"/>
                    <a:pt x="23108" y="65386"/>
                    <a:pt x="19824" y="64070"/>
                  </a:cubicBezTo>
                  <a:lnTo>
                    <a:pt x="19822" y="64070"/>
                  </a:lnTo>
                  <a:cubicBezTo>
                    <a:pt x="16533" y="62752"/>
                    <a:pt x="13510" y="60852"/>
                    <a:pt x="10897" y="58459"/>
                  </a:cubicBezTo>
                  <a:lnTo>
                    <a:pt x="10784" y="58355"/>
                  </a:lnTo>
                  <a:cubicBezTo>
                    <a:pt x="8093" y="55891"/>
                    <a:pt x="5843" y="52987"/>
                    <a:pt x="4129" y="49766"/>
                  </a:cubicBezTo>
                  <a:lnTo>
                    <a:pt x="4040" y="49599"/>
                  </a:lnTo>
                  <a:cubicBezTo>
                    <a:pt x="2267" y="46267"/>
                    <a:pt x="1062" y="42662"/>
                    <a:pt x="475" y="38934"/>
                  </a:cubicBezTo>
                  <a:lnTo>
                    <a:pt x="446" y="38747"/>
                  </a:lnTo>
                  <a:cubicBezTo>
                    <a:pt x="-151" y="34960"/>
                    <a:pt x="-148" y="31103"/>
                    <a:pt x="454" y="27316"/>
                  </a:cubicBezTo>
                  <a:lnTo>
                    <a:pt x="460" y="27278"/>
                  </a:lnTo>
                  <a:cubicBezTo>
                    <a:pt x="1057" y="23519"/>
                    <a:pt x="2267" y="19883"/>
                    <a:pt x="4040" y="16516"/>
                  </a:cubicBezTo>
                  <a:lnTo>
                    <a:pt x="4150" y="16307"/>
                  </a:lnTo>
                  <a:cubicBezTo>
                    <a:pt x="5850" y="13080"/>
                    <a:pt x="8094" y="10170"/>
                    <a:pt x="10784" y="7707"/>
                  </a:cubicBezTo>
                  <a:lnTo>
                    <a:pt x="10897" y="7603"/>
                  </a:lnTo>
                  <a:cubicBezTo>
                    <a:pt x="13510" y="5211"/>
                    <a:pt x="16533" y="3310"/>
                    <a:pt x="19822" y="1992"/>
                  </a:cubicBezTo>
                  <a:lnTo>
                    <a:pt x="19824" y="1992"/>
                  </a:lnTo>
                  <a:cubicBezTo>
                    <a:pt x="23108" y="676"/>
                    <a:pt x="26614" y="0"/>
                    <a:pt x="30152" y="0"/>
                  </a:cubicBezTo>
                  <a:lnTo>
                    <a:pt x="30152" y="0"/>
                  </a:lnTo>
                  <a:cubicBezTo>
                    <a:pt x="33690" y="0"/>
                    <a:pt x="37196" y="676"/>
                    <a:pt x="40480" y="1992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199" y="-28525"/>
              <a:ext cx="42816" cy="85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028700" y="1222203"/>
            <a:ext cx="580366" cy="717307"/>
          </a:xfrm>
          <a:custGeom>
            <a:avLst/>
            <a:gdLst/>
            <a:ahLst/>
            <a:cxnLst/>
            <a:rect l="l" t="t" r="r" b="b"/>
            <a:pathLst>
              <a:path w="580366" h="717307">
                <a:moveTo>
                  <a:pt x="0" y="0"/>
                </a:moveTo>
                <a:lnTo>
                  <a:pt x="580366" y="0"/>
                </a:lnTo>
                <a:lnTo>
                  <a:pt x="580366" y="717307"/>
                </a:lnTo>
                <a:lnTo>
                  <a:pt x="0" y="7173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3795242" y="6492277"/>
            <a:ext cx="309185" cy="2307847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2331088" y="4693311"/>
            <a:ext cx="1554420" cy="772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3"/>
              </a:lnSpc>
              <a:spcBef>
                <a:spcPct val="0"/>
              </a:spcBef>
            </a:pPr>
            <a:r>
              <a:rPr lang="en-US" sz="2230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Anomaly Detection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008189" y="7392464"/>
            <a:ext cx="3927664" cy="1294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2425" lvl="1" indent="-131212" algn="l">
              <a:lnSpc>
                <a:spcPts val="1701"/>
              </a:lnSpc>
              <a:buFont typeface="Arial"/>
              <a:buChar char="•"/>
            </a:pPr>
            <a:r>
              <a:rPr lang="en-US" sz="1215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grievance_text</a:t>
            </a:r>
            <a:r>
              <a:rPr lang="en-US" sz="1215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</a:t>
            </a:r>
            <a:r>
              <a:rPr lang="en-US" sz="1215">
                <a:solidFill>
                  <a:srgbClr val="4A90E2"/>
                </a:solidFill>
                <a:latin typeface="Merriweather"/>
                <a:ea typeface="Merriweather"/>
                <a:cs typeface="Merriweather"/>
                <a:sym typeface="Merriweather"/>
              </a:rPr>
              <a:t>= “I further to informing ...”</a:t>
            </a:r>
          </a:p>
          <a:p>
            <a:pPr marL="262425" lvl="1" indent="-131212" algn="l">
              <a:lnSpc>
                <a:spcPts val="1701"/>
              </a:lnSpc>
              <a:buFont typeface="Arial"/>
              <a:buChar char="•"/>
            </a:pPr>
            <a:r>
              <a:rPr lang="en-US" sz="1215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grievance_text_processed</a:t>
            </a:r>
            <a:r>
              <a:rPr lang="en-US" sz="1215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1215">
                <a:solidFill>
                  <a:srgbClr val="4A90E2"/>
                </a:solidFill>
                <a:latin typeface="Merriweather"/>
                <a:ea typeface="Merriweather"/>
                <a:cs typeface="Merriweather"/>
                <a:sym typeface="Merriweather"/>
              </a:rPr>
              <a:t>= “informing temporary railway line crossing near madhyamgram station bt end bad condition stones side line moved far enough cause great danger ...”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147186" y="4693311"/>
            <a:ext cx="1963832" cy="772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3"/>
              </a:lnSpc>
            </a:pPr>
            <a:r>
              <a:rPr lang="en-US" sz="2230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Duplicate</a:t>
            </a:r>
          </a:p>
          <a:p>
            <a:pPr algn="ctr">
              <a:lnSpc>
                <a:spcPts val="3123"/>
              </a:lnSpc>
              <a:spcBef>
                <a:spcPct val="0"/>
              </a:spcBef>
            </a:pPr>
            <a:r>
              <a:rPr lang="en-US" sz="2230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Complaints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147186" y="6955743"/>
            <a:ext cx="1550014" cy="2831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68"/>
              </a:lnSpc>
              <a:spcBef>
                <a:spcPct val="0"/>
              </a:spcBef>
            </a:pPr>
            <a:r>
              <a:rPr lang="en-US" sz="1620" dirty="0">
                <a:solidFill>
                  <a:srgbClr val="00BF6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True Grievance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614896" y="8086327"/>
            <a:ext cx="1635025" cy="2810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68"/>
              </a:lnSpc>
              <a:spcBef>
                <a:spcPct val="0"/>
              </a:spcBef>
            </a:pPr>
            <a:r>
              <a:rPr lang="en-US" sz="1620" dirty="0">
                <a:solidFill>
                  <a:srgbClr val="FF313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False Grievance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23930" y="2749733"/>
            <a:ext cx="9684290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The anomaly detection module ensures that only meaningful and non-redundant grievances are processed in the system.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416388" y="5567857"/>
            <a:ext cx="1378854" cy="548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636">
                <a:solidFill>
                  <a:srgbClr val="1F1F1F"/>
                </a:solidFill>
                <a:latin typeface="Merriweather"/>
                <a:ea typeface="Merriweather"/>
                <a:cs typeface="Merriweather"/>
                <a:sym typeface="Merriweather"/>
              </a:rPr>
              <a:t>Zero Shot Classifiction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439674" y="5567857"/>
            <a:ext cx="1378854" cy="548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636">
                <a:solidFill>
                  <a:srgbClr val="1F1F1F"/>
                </a:solidFill>
                <a:latin typeface="Merriweather"/>
                <a:ea typeface="Merriweather"/>
                <a:cs typeface="Merriweather"/>
                <a:sym typeface="Merriweather"/>
              </a:rPr>
              <a:t>Cosine Similarity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088992" y="4319636"/>
            <a:ext cx="9651804" cy="1805260"/>
            <a:chOff x="0" y="0"/>
            <a:chExt cx="5020658" cy="106848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020658" cy="1068480"/>
            </a:xfrm>
            <a:custGeom>
              <a:avLst/>
              <a:gdLst/>
              <a:ahLst/>
              <a:cxnLst/>
              <a:rect l="l" t="t" r="r" b="b"/>
              <a:pathLst>
                <a:path w="5020658" h="1068480">
                  <a:moveTo>
                    <a:pt x="5020658" y="41051"/>
                  </a:moveTo>
                  <a:lnTo>
                    <a:pt x="5020658" y="1027428"/>
                  </a:lnTo>
                  <a:cubicBezTo>
                    <a:pt x="5020658" y="1038316"/>
                    <a:pt x="5016333" y="1048758"/>
                    <a:pt x="5008634" y="1056456"/>
                  </a:cubicBezTo>
                  <a:cubicBezTo>
                    <a:pt x="5000935" y="1064155"/>
                    <a:pt x="4990494" y="1068480"/>
                    <a:pt x="4979607" y="1068480"/>
                  </a:cubicBezTo>
                  <a:lnTo>
                    <a:pt x="41051" y="1068480"/>
                  </a:lnTo>
                  <a:cubicBezTo>
                    <a:pt x="30164" y="1068480"/>
                    <a:pt x="19722" y="1064155"/>
                    <a:pt x="12024" y="1056456"/>
                  </a:cubicBezTo>
                  <a:cubicBezTo>
                    <a:pt x="4325" y="1048758"/>
                    <a:pt x="0" y="1038316"/>
                    <a:pt x="0" y="1027428"/>
                  </a:cubicBezTo>
                  <a:lnTo>
                    <a:pt x="0" y="41051"/>
                  </a:lnTo>
                  <a:cubicBezTo>
                    <a:pt x="0" y="30164"/>
                    <a:pt x="4325" y="19722"/>
                    <a:pt x="12024" y="12024"/>
                  </a:cubicBezTo>
                  <a:cubicBezTo>
                    <a:pt x="19722" y="4325"/>
                    <a:pt x="30164" y="0"/>
                    <a:pt x="41051" y="0"/>
                  </a:cubicBezTo>
                  <a:lnTo>
                    <a:pt x="4979607" y="0"/>
                  </a:lnTo>
                  <a:cubicBezTo>
                    <a:pt x="4990494" y="0"/>
                    <a:pt x="5000935" y="4325"/>
                    <a:pt x="5008634" y="12024"/>
                  </a:cubicBezTo>
                  <a:cubicBezTo>
                    <a:pt x="5016333" y="19722"/>
                    <a:pt x="5020658" y="30164"/>
                    <a:pt x="5020658" y="41051"/>
                  </a:cubicBezTo>
                  <a:close/>
                </a:path>
              </a:pathLst>
            </a:custGeom>
            <a:gradFill rotWithShape="1">
              <a:gsLst>
                <a:gs pos="0">
                  <a:srgbClr val="EBFAFF">
                    <a:alpha val="50000"/>
                  </a:srgbClr>
                </a:gs>
                <a:gs pos="100000">
                  <a:srgbClr val="87CEFB">
                    <a:alpha val="50000"/>
                  </a:srgbClr>
                </a:gs>
              </a:gsLst>
              <a:lin ang="2700000"/>
            </a:gradFill>
            <a:ln w="38100" cap="rnd">
              <a:solidFill>
                <a:srgbClr val="4A90E2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5020658" cy="11065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242704" y="4740668"/>
            <a:ext cx="1919723" cy="976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4"/>
              </a:lnSpc>
              <a:spcBef>
                <a:spcPct val="0"/>
              </a:spcBef>
            </a:pPr>
            <a:r>
              <a:rPr lang="en-US" sz="2810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Content Validation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213653" y="4742250"/>
            <a:ext cx="7236254" cy="790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2" lvl="1" indent="-161926" algn="l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grievance is analyzed using a zero-shot classification model</a:t>
            </a:r>
          </a:p>
          <a:p>
            <a:pPr marL="323852" lvl="1" indent="-161926" algn="l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identifies whether the text represents a valid public service complaint </a:t>
            </a:r>
          </a:p>
          <a:p>
            <a:pPr marL="323852" lvl="1" indent="-161926" algn="l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or belongs to categories such as spam, abusive content, or irrelevant text.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088992" y="6944352"/>
            <a:ext cx="9651804" cy="1742488"/>
            <a:chOff x="0" y="0"/>
            <a:chExt cx="5020658" cy="110154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020658" cy="1101544"/>
            </a:xfrm>
            <a:custGeom>
              <a:avLst/>
              <a:gdLst/>
              <a:ahLst/>
              <a:cxnLst/>
              <a:rect l="l" t="t" r="r" b="b"/>
              <a:pathLst>
                <a:path w="5020658" h="1101544">
                  <a:moveTo>
                    <a:pt x="5020658" y="41051"/>
                  </a:moveTo>
                  <a:lnTo>
                    <a:pt x="5020658" y="1060493"/>
                  </a:lnTo>
                  <a:cubicBezTo>
                    <a:pt x="5020658" y="1071380"/>
                    <a:pt x="5016333" y="1081822"/>
                    <a:pt x="5008634" y="1089521"/>
                  </a:cubicBezTo>
                  <a:cubicBezTo>
                    <a:pt x="5000935" y="1097219"/>
                    <a:pt x="4990494" y="1101544"/>
                    <a:pt x="4979607" y="1101544"/>
                  </a:cubicBezTo>
                  <a:lnTo>
                    <a:pt x="41051" y="1101544"/>
                  </a:lnTo>
                  <a:cubicBezTo>
                    <a:pt x="30164" y="1101544"/>
                    <a:pt x="19722" y="1097219"/>
                    <a:pt x="12024" y="1089521"/>
                  </a:cubicBezTo>
                  <a:cubicBezTo>
                    <a:pt x="4325" y="1081822"/>
                    <a:pt x="0" y="1071380"/>
                    <a:pt x="0" y="1060493"/>
                  </a:cubicBezTo>
                  <a:lnTo>
                    <a:pt x="0" y="41051"/>
                  </a:lnTo>
                  <a:cubicBezTo>
                    <a:pt x="0" y="30164"/>
                    <a:pt x="4325" y="19722"/>
                    <a:pt x="12024" y="12024"/>
                  </a:cubicBezTo>
                  <a:cubicBezTo>
                    <a:pt x="19722" y="4325"/>
                    <a:pt x="30164" y="0"/>
                    <a:pt x="41051" y="0"/>
                  </a:cubicBezTo>
                  <a:lnTo>
                    <a:pt x="4979607" y="0"/>
                  </a:lnTo>
                  <a:cubicBezTo>
                    <a:pt x="4990494" y="0"/>
                    <a:pt x="5000935" y="4325"/>
                    <a:pt x="5008634" y="12024"/>
                  </a:cubicBezTo>
                  <a:cubicBezTo>
                    <a:pt x="5016333" y="19722"/>
                    <a:pt x="5020658" y="30164"/>
                    <a:pt x="5020658" y="41051"/>
                  </a:cubicBezTo>
                  <a:close/>
                </a:path>
              </a:pathLst>
            </a:custGeom>
            <a:gradFill rotWithShape="1">
              <a:gsLst>
                <a:gs pos="0">
                  <a:srgbClr val="EBFAFF">
                    <a:alpha val="50000"/>
                  </a:srgbClr>
                </a:gs>
                <a:gs pos="100000">
                  <a:srgbClr val="87CEFB">
                    <a:alpha val="50000"/>
                  </a:srgbClr>
                </a:gs>
              </a:gsLst>
              <a:lin ang="2700000"/>
            </a:gradFill>
            <a:ln w="38100" cap="rnd">
              <a:solidFill>
                <a:srgbClr val="4A90E2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5020658" cy="11396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242704" y="7390976"/>
            <a:ext cx="1919723" cy="976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34"/>
              </a:lnSpc>
              <a:spcBef>
                <a:spcPct val="0"/>
              </a:spcBef>
            </a:pPr>
            <a:r>
              <a:rPr lang="en-US" sz="2810" b="1" dirty="0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Duplicate Detection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213652" y="7419551"/>
            <a:ext cx="8188297" cy="1060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3852" lvl="1" indent="-161926" algn="l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grievance text is converted into TF-IDF vectors</a:t>
            </a:r>
          </a:p>
          <a:p>
            <a:pPr marL="323852" lvl="1" indent="-161926" algn="l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cosine similarity is used to measure similarity with historical records. </a:t>
            </a:r>
          </a:p>
          <a:p>
            <a:pPr marL="323852" lvl="1" indent="-161926" algn="l">
              <a:lnSpc>
                <a:spcPts val="2100"/>
              </a:lnSpc>
              <a:buFont typeface="Arial"/>
              <a:buChar char="•"/>
            </a:pPr>
            <a:r>
              <a:rPr lang="en-US" sz="1500" dirty="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this allows the system to detect both exact duplicates and partially similar complaints.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941126" y="5052002"/>
            <a:ext cx="4070338" cy="1978808"/>
            <a:chOff x="0" y="0"/>
            <a:chExt cx="1387997" cy="67477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" name="Freeform 3"/>
            <p:cNvSpPr/>
            <p:nvPr/>
          </p:nvSpPr>
          <p:spPr>
            <a:xfrm>
              <a:off x="0" y="0"/>
              <a:ext cx="1387997" cy="674779"/>
            </a:xfrm>
            <a:custGeom>
              <a:avLst/>
              <a:gdLst/>
              <a:ahLst/>
              <a:cxnLst/>
              <a:rect l="l" t="t" r="r" b="b"/>
              <a:pathLst>
                <a:path w="1387997" h="674779">
                  <a:moveTo>
                    <a:pt x="0" y="0"/>
                  </a:moveTo>
                  <a:lnTo>
                    <a:pt x="1387997" y="0"/>
                  </a:lnTo>
                  <a:lnTo>
                    <a:pt x="1387997" y="674779"/>
                  </a:lnTo>
                  <a:lnTo>
                    <a:pt x="0" y="674779"/>
                  </a:lnTo>
                  <a:close/>
                </a:path>
              </a:pathLst>
            </a:custGeom>
            <a:gradFill rotWithShape="1">
              <a:gsLst>
                <a:gs pos="0">
                  <a:srgbClr val="FFF2CC">
                    <a:alpha val="100000"/>
                  </a:srgbClr>
                </a:gs>
                <a:gs pos="100000">
                  <a:srgbClr val="FFD966">
                    <a:alpha val="100000"/>
                  </a:srgbClr>
                </a:gs>
              </a:gsLst>
              <a:lin ang="5400000"/>
            </a:gradFill>
            <a:ln w="381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87997" cy="712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365289" y="5212253"/>
            <a:ext cx="3353404" cy="400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3"/>
              </a:lnSpc>
              <a:spcBef>
                <a:spcPct val="0"/>
              </a:spcBef>
            </a:pPr>
            <a:r>
              <a:rPr lang="en-US" sz="2317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Domain Classification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846876" y="3032696"/>
            <a:ext cx="3743633" cy="813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0129" lvl="1" indent="-125064" algn="l">
              <a:lnSpc>
                <a:spcPts val="1621"/>
              </a:lnSpc>
              <a:buFont typeface="Arial"/>
              <a:buChar char="•"/>
            </a:pPr>
            <a:r>
              <a:rPr lang="en-US" sz="1158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grievance_text</a:t>
            </a:r>
            <a:r>
              <a:rPr lang="en-US" sz="1158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lang="en-US" sz="1158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= “I further to informing you that the temporary railway ...”</a:t>
            </a:r>
          </a:p>
          <a:p>
            <a:pPr marL="250129" lvl="1" indent="-125064" algn="l">
              <a:lnSpc>
                <a:spcPts val="1621"/>
              </a:lnSpc>
              <a:buFont typeface="Arial"/>
              <a:buChar char="•"/>
            </a:pPr>
            <a:r>
              <a:rPr lang="en-US" sz="1158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grievance_text_processed</a:t>
            </a:r>
            <a:r>
              <a:rPr lang="en-US" sz="1158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“informing temporary railway line crossing...”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518692" y="5748526"/>
            <a:ext cx="2915206" cy="89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2"/>
              </a:lnSpc>
            </a:pPr>
            <a:r>
              <a:rPr lang="en-US" sz="1744">
                <a:solidFill>
                  <a:srgbClr val="1F1F1F"/>
                </a:solidFill>
                <a:latin typeface="Merriweather"/>
                <a:ea typeface="Merriweather"/>
                <a:cs typeface="Merriweather"/>
                <a:sym typeface="Merriweather"/>
              </a:rPr>
              <a:t>TF-IDF (n grams) </a:t>
            </a:r>
          </a:p>
          <a:p>
            <a:pPr algn="ctr">
              <a:lnSpc>
                <a:spcPts val="2442"/>
              </a:lnSpc>
              <a:spcBef>
                <a:spcPct val="0"/>
              </a:spcBef>
            </a:pPr>
            <a:r>
              <a:rPr lang="en-US" sz="1744">
                <a:solidFill>
                  <a:srgbClr val="1F1F1F"/>
                </a:solidFill>
                <a:latin typeface="Merriweather"/>
                <a:ea typeface="Merriweather"/>
                <a:cs typeface="Merriweather"/>
                <a:sym typeface="Merriweather"/>
              </a:rPr>
              <a:t>Linear Support Vector Machines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46876" y="7507060"/>
            <a:ext cx="3743633" cy="1225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0129" lvl="1" indent="-125064" algn="l">
              <a:lnSpc>
                <a:spcPts val="1621"/>
              </a:lnSpc>
              <a:buFont typeface="Arial"/>
              <a:buChar char="•"/>
            </a:pPr>
            <a:r>
              <a:rPr lang="en-US" sz="1158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grievance_text</a:t>
            </a:r>
            <a:r>
              <a:rPr lang="en-US" sz="1158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lang="en-US" sz="1158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= “I further to informing you that the temporary railway ...”</a:t>
            </a:r>
          </a:p>
          <a:p>
            <a:pPr marL="250129" lvl="1" indent="-125064" algn="l">
              <a:lnSpc>
                <a:spcPts val="1621"/>
              </a:lnSpc>
              <a:buFont typeface="Arial"/>
              <a:buChar char="•"/>
            </a:pPr>
            <a:r>
              <a:rPr lang="en-US" sz="1158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grievance_text_processed</a:t>
            </a:r>
            <a:r>
              <a:rPr lang="en-US" sz="1158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“informing temporary railway line crossing...”</a:t>
            </a:r>
          </a:p>
          <a:p>
            <a:pPr marL="250129" lvl="1" indent="-125064" algn="l">
              <a:lnSpc>
                <a:spcPts val="1621"/>
              </a:lnSpc>
              <a:buFont typeface="Arial"/>
              <a:buChar char="•"/>
            </a:pPr>
            <a:r>
              <a:rPr lang="en-US" sz="1158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org_code</a:t>
            </a:r>
            <a:r>
              <a:rPr lang="en-US" sz="1158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‘MORLY’</a:t>
            </a:r>
          </a:p>
          <a:p>
            <a:pPr algn="l">
              <a:lnSpc>
                <a:spcPts val="1621"/>
              </a:lnSpc>
              <a:spcBef>
                <a:spcPct val="0"/>
              </a:spcBef>
            </a:pPr>
            <a:endParaRPr lang="en-US" sz="1158">
              <a:solidFill>
                <a:srgbClr val="4A90E2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976295" y="4325170"/>
            <a:ext cx="1580476" cy="263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2"/>
              </a:lnSpc>
              <a:spcBef>
                <a:spcPct val="0"/>
              </a:spcBef>
            </a:pPr>
            <a:r>
              <a:rPr lang="en-US" sz="1544" dirty="0">
                <a:solidFill>
                  <a:srgbClr val="00BF63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True Grievance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593159" y="2877518"/>
            <a:ext cx="311579" cy="2325713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574918" y="6942100"/>
            <a:ext cx="293536" cy="219104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1854037" y="1905697"/>
            <a:ext cx="8371341" cy="87209"/>
            <a:chOff x="0" y="0"/>
            <a:chExt cx="2204798" cy="2296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04798" cy="22969"/>
            </a:xfrm>
            <a:custGeom>
              <a:avLst/>
              <a:gdLst/>
              <a:ahLst/>
              <a:cxnLst/>
              <a:rect l="l" t="t" r="r" b="b"/>
              <a:pathLst>
                <a:path w="2204798" h="22969">
                  <a:moveTo>
                    <a:pt x="0" y="0"/>
                  </a:moveTo>
                  <a:lnTo>
                    <a:pt x="2204798" y="0"/>
                  </a:lnTo>
                  <a:lnTo>
                    <a:pt x="2204798" y="22969"/>
                  </a:lnTo>
                  <a:lnTo>
                    <a:pt x="0" y="22969"/>
                  </a:lnTo>
                  <a:close/>
                </a:path>
              </a:pathLst>
            </a:custGeom>
            <a:solidFill>
              <a:srgbClr val="F4C54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04798" cy="61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09038" y="3313829"/>
            <a:ext cx="221196" cy="215470"/>
            <a:chOff x="0" y="0"/>
            <a:chExt cx="67825" cy="66167"/>
          </a:xfrm>
        </p:grpSpPr>
        <p:sp>
          <p:nvSpPr>
            <p:cNvPr id="16" name="Freeform 16"/>
            <p:cNvSpPr/>
            <p:nvPr/>
          </p:nvSpPr>
          <p:spPr>
            <a:xfrm>
              <a:off x="505" y="0"/>
              <a:ext cx="66816" cy="66062"/>
            </a:xfrm>
            <a:custGeom>
              <a:avLst/>
              <a:gdLst/>
              <a:ahLst/>
              <a:cxnLst/>
              <a:rect l="l" t="t" r="r" b="b"/>
              <a:pathLst>
                <a:path w="66816" h="66062">
                  <a:moveTo>
                    <a:pt x="44853" y="1992"/>
                  </a:moveTo>
                  <a:lnTo>
                    <a:pt x="44869" y="1998"/>
                  </a:lnTo>
                  <a:cubicBezTo>
                    <a:pt x="48505" y="3313"/>
                    <a:pt x="51888" y="5244"/>
                    <a:pt x="54868" y="7707"/>
                  </a:cubicBezTo>
                  <a:lnTo>
                    <a:pt x="54868" y="7707"/>
                  </a:lnTo>
                  <a:cubicBezTo>
                    <a:pt x="57847" y="10170"/>
                    <a:pt x="60369" y="13138"/>
                    <a:pt x="62317" y="16477"/>
                  </a:cubicBezTo>
                  <a:lnTo>
                    <a:pt x="62382" y="16589"/>
                  </a:lnTo>
                  <a:cubicBezTo>
                    <a:pt x="64317" y="19904"/>
                    <a:pt x="65648" y="23536"/>
                    <a:pt x="66314" y="27316"/>
                  </a:cubicBezTo>
                  <a:lnTo>
                    <a:pt x="66314" y="27316"/>
                  </a:lnTo>
                  <a:cubicBezTo>
                    <a:pt x="66980" y="31097"/>
                    <a:pt x="66983" y="34965"/>
                    <a:pt x="66323" y="38748"/>
                  </a:cubicBezTo>
                  <a:lnTo>
                    <a:pt x="66312" y="38810"/>
                  </a:lnTo>
                  <a:cubicBezTo>
                    <a:pt x="65647" y="42616"/>
                    <a:pt x="64302" y="46271"/>
                    <a:pt x="62340" y="49599"/>
                  </a:cubicBezTo>
                  <a:lnTo>
                    <a:pt x="62340" y="49599"/>
                  </a:lnTo>
                  <a:cubicBezTo>
                    <a:pt x="60376" y="52929"/>
                    <a:pt x="57848" y="55892"/>
                    <a:pt x="54868" y="58355"/>
                  </a:cubicBezTo>
                  <a:lnTo>
                    <a:pt x="54868" y="58355"/>
                  </a:lnTo>
                  <a:cubicBezTo>
                    <a:pt x="51888" y="60818"/>
                    <a:pt x="48505" y="62750"/>
                    <a:pt x="44869" y="64064"/>
                  </a:cubicBezTo>
                  <a:lnTo>
                    <a:pt x="44853" y="64070"/>
                  </a:lnTo>
                  <a:cubicBezTo>
                    <a:pt x="41207" y="65388"/>
                    <a:pt x="37360" y="66062"/>
                    <a:pt x="33483" y="66062"/>
                  </a:cubicBezTo>
                  <a:lnTo>
                    <a:pt x="33333" y="66062"/>
                  </a:lnTo>
                  <a:cubicBezTo>
                    <a:pt x="29456" y="66062"/>
                    <a:pt x="25608" y="65388"/>
                    <a:pt x="21962" y="64070"/>
                  </a:cubicBezTo>
                  <a:lnTo>
                    <a:pt x="21947" y="64064"/>
                  </a:lnTo>
                  <a:cubicBezTo>
                    <a:pt x="18310" y="62750"/>
                    <a:pt x="14928" y="60818"/>
                    <a:pt x="11947" y="58355"/>
                  </a:cubicBezTo>
                  <a:lnTo>
                    <a:pt x="11947" y="58355"/>
                  </a:lnTo>
                  <a:cubicBezTo>
                    <a:pt x="8967" y="55892"/>
                    <a:pt x="6439" y="52929"/>
                    <a:pt x="4476" y="49599"/>
                  </a:cubicBezTo>
                  <a:lnTo>
                    <a:pt x="4476" y="49599"/>
                  </a:lnTo>
                  <a:cubicBezTo>
                    <a:pt x="2514" y="46271"/>
                    <a:pt x="1168" y="42616"/>
                    <a:pt x="504" y="38810"/>
                  </a:cubicBezTo>
                  <a:lnTo>
                    <a:pt x="493" y="38748"/>
                  </a:lnTo>
                  <a:cubicBezTo>
                    <a:pt x="-167" y="34965"/>
                    <a:pt x="-164" y="31097"/>
                    <a:pt x="502" y="27316"/>
                  </a:cubicBezTo>
                  <a:lnTo>
                    <a:pt x="502" y="27316"/>
                  </a:lnTo>
                  <a:cubicBezTo>
                    <a:pt x="1168" y="23536"/>
                    <a:pt x="2499" y="19904"/>
                    <a:pt x="4433" y="16589"/>
                  </a:cubicBezTo>
                  <a:lnTo>
                    <a:pt x="4499" y="16477"/>
                  </a:lnTo>
                  <a:cubicBezTo>
                    <a:pt x="6446" y="13138"/>
                    <a:pt x="8968" y="10170"/>
                    <a:pt x="11947" y="7707"/>
                  </a:cubicBezTo>
                  <a:lnTo>
                    <a:pt x="11947" y="7707"/>
                  </a:lnTo>
                  <a:cubicBezTo>
                    <a:pt x="14928" y="5244"/>
                    <a:pt x="18310" y="3313"/>
                    <a:pt x="21947" y="1998"/>
                  </a:cubicBezTo>
                  <a:lnTo>
                    <a:pt x="21962" y="1992"/>
                  </a:lnTo>
                  <a:cubicBezTo>
                    <a:pt x="25608" y="674"/>
                    <a:pt x="29456" y="0"/>
                    <a:pt x="33333" y="0"/>
                  </a:cubicBezTo>
                  <a:lnTo>
                    <a:pt x="33483" y="0"/>
                  </a:lnTo>
                  <a:cubicBezTo>
                    <a:pt x="37360" y="0"/>
                    <a:pt x="41207" y="674"/>
                    <a:pt x="44853" y="1992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192" y="-28525"/>
              <a:ext cx="47441" cy="85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09038" y="4881278"/>
            <a:ext cx="199634" cy="215470"/>
            <a:chOff x="0" y="0"/>
            <a:chExt cx="61214" cy="66167"/>
          </a:xfrm>
        </p:grpSpPr>
        <p:sp>
          <p:nvSpPr>
            <p:cNvPr id="19" name="Freeform 19"/>
            <p:cNvSpPr/>
            <p:nvPr/>
          </p:nvSpPr>
          <p:spPr>
            <a:xfrm>
              <a:off x="455" y="0"/>
              <a:ext cx="60304" cy="66062"/>
            </a:xfrm>
            <a:custGeom>
              <a:avLst/>
              <a:gdLst/>
              <a:ahLst/>
              <a:cxnLst/>
              <a:rect l="l" t="t" r="r" b="b"/>
              <a:pathLst>
                <a:path w="60304" h="66062">
                  <a:moveTo>
                    <a:pt x="40480" y="1992"/>
                  </a:moveTo>
                  <a:lnTo>
                    <a:pt x="40482" y="1992"/>
                  </a:lnTo>
                  <a:cubicBezTo>
                    <a:pt x="43771" y="3310"/>
                    <a:pt x="46794" y="5211"/>
                    <a:pt x="49407" y="7603"/>
                  </a:cubicBezTo>
                  <a:lnTo>
                    <a:pt x="49520" y="7707"/>
                  </a:lnTo>
                  <a:cubicBezTo>
                    <a:pt x="52210" y="10170"/>
                    <a:pt x="54454" y="13080"/>
                    <a:pt x="56154" y="16307"/>
                  </a:cubicBezTo>
                  <a:lnTo>
                    <a:pt x="56264" y="16516"/>
                  </a:lnTo>
                  <a:cubicBezTo>
                    <a:pt x="58037" y="19883"/>
                    <a:pt x="59247" y="23519"/>
                    <a:pt x="59844" y="27278"/>
                  </a:cubicBezTo>
                  <a:lnTo>
                    <a:pt x="59850" y="27316"/>
                  </a:lnTo>
                  <a:cubicBezTo>
                    <a:pt x="60452" y="31103"/>
                    <a:pt x="60455" y="34960"/>
                    <a:pt x="59858" y="38747"/>
                  </a:cubicBezTo>
                  <a:lnTo>
                    <a:pt x="59829" y="38934"/>
                  </a:lnTo>
                  <a:cubicBezTo>
                    <a:pt x="59242" y="42662"/>
                    <a:pt x="58037" y="46267"/>
                    <a:pt x="56264" y="49599"/>
                  </a:cubicBezTo>
                  <a:lnTo>
                    <a:pt x="56175" y="49766"/>
                  </a:lnTo>
                  <a:cubicBezTo>
                    <a:pt x="54461" y="52987"/>
                    <a:pt x="52211" y="55891"/>
                    <a:pt x="49520" y="58355"/>
                  </a:cubicBezTo>
                  <a:lnTo>
                    <a:pt x="49407" y="58459"/>
                  </a:lnTo>
                  <a:cubicBezTo>
                    <a:pt x="46794" y="60852"/>
                    <a:pt x="43771" y="62752"/>
                    <a:pt x="40482" y="64070"/>
                  </a:cubicBezTo>
                  <a:lnTo>
                    <a:pt x="40480" y="64070"/>
                  </a:lnTo>
                  <a:cubicBezTo>
                    <a:pt x="37196" y="65386"/>
                    <a:pt x="33690" y="66062"/>
                    <a:pt x="30152" y="66062"/>
                  </a:cubicBezTo>
                  <a:lnTo>
                    <a:pt x="30152" y="66062"/>
                  </a:lnTo>
                  <a:cubicBezTo>
                    <a:pt x="26614" y="66062"/>
                    <a:pt x="23108" y="65386"/>
                    <a:pt x="19824" y="64070"/>
                  </a:cubicBezTo>
                  <a:lnTo>
                    <a:pt x="19822" y="64070"/>
                  </a:lnTo>
                  <a:cubicBezTo>
                    <a:pt x="16533" y="62752"/>
                    <a:pt x="13510" y="60852"/>
                    <a:pt x="10897" y="58459"/>
                  </a:cubicBezTo>
                  <a:lnTo>
                    <a:pt x="10784" y="58355"/>
                  </a:lnTo>
                  <a:cubicBezTo>
                    <a:pt x="8093" y="55891"/>
                    <a:pt x="5843" y="52987"/>
                    <a:pt x="4129" y="49766"/>
                  </a:cubicBezTo>
                  <a:lnTo>
                    <a:pt x="4040" y="49599"/>
                  </a:lnTo>
                  <a:cubicBezTo>
                    <a:pt x="2267" y="46267"/>
                    <a:pt x="1062" y="42662"/>
                    <a:pt x="475" y="38934"/>
                  </a:cubicBezTo>
                  <a:lnTo>
                    <a:pt x="446" y="38747"/>
                  </a:lnTo>
                  <a:cubicBezTo>
                    <a:pt x="-151" y="34960"/>
                    <a:pt x="-148" y="31103"/>
                    <a:pt x="454" y="27316"/>
                  </a:cubicBezTo>
                  <a:lnTo>
                    <a:pt x="460" y="27278"/>
                  </a:lnTo>
                  <a:cubicBezTo>
                    <a:pt x="1057" y="23519"/>
                    <a:pt x="2267" y="19883"/>
                    <a:pt x="4040" y="16516"/>
                  </a:cubicBezTo>
                  <a:lnTo>
                    <a:pt x="4150" y="16307"/>
                  </a:lnTo>
                  <a:cubicBezTo>
                    <a:pt x="5850" y="13080"/>
                    <a:pt x="8094" y="10170"/>
                    <a:pt x="10784" y="7707"/>
                  </a:cubicBezTo>
                  <a:lnTo>
                    <a:pt x="10897" y="7603"/>
                  </a:lnTo>
                  <a:cubicBezTo>
                    <a:pt x="13510" y="5211"/>
                    <a:pt x="16533" y="3310"/>
                    <a:pt x="19822" y="1992"/>
                  </a:cubicBezTo>
                  <a:lnTo>
                    <a:pt x="19824" y="1992"/>
                  </a:lnTo>
                  <a:cubicBezTo>
                    <a:pt x="23108" y="676"/>
                    <a:pt x="26614" y="0"/>
                    <a:pt x="30152" y="0"/>
                  </a:cubicBezTo>
                  <a:lnTo>
                    <a:pt x="30152" y="0"/>
                  </a:lnTo>
                  <a:cubicBezTo>
                    <a:pt x="33690" y="0"/>
                    <a:pt x="37196" y="676"/>
                    <a:pt x="40480" y="1992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199" y="-28525"/>
              <a:ext cx="42816" cy="85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09038" y="6434854"/>
            <a:ext cx="199634" cy="215470"/>
            <a:chOff x="0" y="0"/>
            <a:chExt cx="61214" cy="66167"/>
          </a:xfrm>
        </p:grpSpPr>
        <p:sp>
          <p:nvSpPr>
            <p:cNvPr id="22" name="Freeform 22"/>
            <p:cNvSpPr/>
            <p:nvPr/>
          </p:nvSpPr>
          <p:spPr>
            <a:xfrm>
              <a:off x="455" y="0"/>
              <a:ext cx="60304" cy="66062"/>
            </a:xfrm>
            <a:custGeom>
              <a:avLst/>
              <a:gdLst/>
              <a:ahLst/>
              <a:cxnLst/>
              <a:rect l="l" t="t" r="r" b="b"/>
              <a:pathLst>
                <a:path w="60304" h="66062">
                  <a:moveTo>
                    <a:pt x="40480" y="1992"/>
                  </a:moveTo>
                  <a:lnTo>
                    <a:pt x="40482" y="1992"/>
                  </a:lnTo>
                  <a:cubicBezTo>
                    <a:pt x="43771" y="3310"/>
                    <a:pt x="46794" y="5211"/>
                    <a:pt x="49407" y="7603"/>
                  </a:cubicBezTo>
                  <a:lnTo>
                    <a:pt x="49520" y="7707"/>
                  </a:lnTo>
                  <a:cubicBezTo>
                    <a:pt x="52210" y="10170"/>
                    <a:pt x="54454" y="13080"/>
                    <a:pt x="56154" y="16307"/>
                  </a:cubicBezTo>
                  <a:lnTo>
                    <a:pt x="56264" y="16516"/>
                  </a:lnTo>
                  <a:cubicBezTo>
                    <a:pt x="58037" y="19883"/>
                    <a:pt x="59247" y="23519"/>
                    <a:pt x="59844" y="27278"/>
                  </a:cubicBezTo>
                  <a:lnTo>
                    <a:pt x="59850" y="27316"/>
                  </a:lnTo>
                  <a:cubicBezTo>
                    <a:pt x="60452" y="31103"/>
                    <a:pt x="60455" y="34960"/>
                    <a:pt x="59858" y="38747"/>
                  </a:cubicBezTo>
                  <a:lnTo>
                    <a:pt x="59829" y="38934"/>
                  </a:lnTo>
                  <a:cubicBezTo>
                    <a:pt x="59242" y="42662"/>
                    <a:pt x="58037" y="46267"/>
                    <a:pt x="56264" y="49599"/>
                  </a:cubicBezTo>
                  <a:lnTo>
                    <a:pt x="56175" y="49766"/>
                  </a:lnTo>
                  <a:cubicBezTo>
                    <a:pt x="54461" y="52987"/>
                    <a:pt x="52211" y="55891"/>
                    <a:pt x="49520" y="58355"/>
                  </a:cubicBezTo>
                  <a:lnTo>
                    <a:pt x="49407" y="58459"/>
                  </a:lnTo>
                  <a:cubicBezTo>
                    <a:pt x="46794" y="60852"/>
                    <a:pt x="43771" y="62752"/>
                    <a:pt x="40482" y="64070"/>
                  </a:cubicBezTo>
                  <a:lnTo>
                    <a:pt x="40480" y="64070"/>
                  </a:lnTo>
                  <a:cubicBezTo>
                    <a:pt x="37196" y="65386"/>
                    <a:pt x="33690" y="66062"/>
                    <a:pt x="30152" y="66062"/>
                  </a:cubicBezTo>
                  <a:lnTo>
                    <a:pt x="30152" y="66062"/>
                  </a:lnTo>
                  <a:cubicBezTo>
                    <a:pt x="26614" y="66062"/>
                    <a:pt x="23108" y="65386"/>
                    <a:pt x="19824" y="64070"/>
                  </a:cubicBezTo>
                  <a:lnTo>
                    <a:pt x="19822" y="64070"/>
                  </a:lnTo>
                  <a:cubicBezTo>
                    <a:pt x="16533" y="62752"/>
                    <a:pt x="13510" y="60852"/>
                    <a:pt x="10897" y="58459"/>
                  </a:cubicBezTo>
                  <a:lnTo>
                    <a:pt x="10784" y="58355"/>
                  </a:lnTo>
                  <a:cubicBezTo>
                    <a:pt x="8093" y="55891"/>
                    <a:pt x="5843" y="52987"/>
                    <a:pt x="4129" y="49766"/>
                  </a:cubicBezTo>
                  <a:lnTo>
                    <a:pt x="4040" y="49599"/>
                  </a:lnTo>
                  <a:cubicBezTo>
                    <a:pt x="2267" y="46267"/>
                    <a:pt x="1062" y="42662"/>
                    <a:pt x="475" y="38934"/>
                  </a:cubicBezTo>
                  <a:lnTo>
                    <a:pt x="446" y="38747"/>
                  </a:lnTo>
                  <a:cubicBezTo>
                    <a:pt x="-151" y="34960"/>
                    <a:pt x="-148" y="31103"/>
                    <a:pt x="454" y="27316"/>
                  </a:cubicBezTo>
                  <a:lnTo>
                    <a:pt x="460" y="27278"/>
                  </a:lnTo>
                  <a:cubicBezTo>
                    <a:pt x="1057" y="23519"/>
                    <a:pt x="2267" y="19883"/>
                    <a:pt x="4040" y="16516"/>
                  </a:cubicBezTo>
                  <a:lnTo>
                    <a:pt x="4150" y="16307"/>
                  </a:lnTo>
                  <a:cubicBezTo>
                    <a:pt x="5850" y="13080"/>
                    <a:pt x="8094" y="10170"/>
                    <a:pt x="10784" y="7707"/>
                  </a:cubicBezTo>
                  <a:lnTo>
                    <a:pt x="10897" y="7603"/>
                  </a:lnTo>
                  <a:cubicBezTo>
                    <a:pt x="13510" y="5211"/>
                    <a:pt x="16533" y="3310"/>
                    <a:pt x="19822" y="1992"/>
                  </a:cubicBezTo>
                  <a:lnTo>
                    <a:pt x="19824" y="1992"/>
                  </a:lnTo>
                  <a:cubicBezTo>
                    <a:pt x="23108" y="676"/>
                    <a:pt x="26614" y="0"/>
                    <a:pt x="30152" y="0"/>
                  </a:cubicBezTo>
                  <a:lnTo>
                    <a:pt x="30152" y="0"/>
                  </a:lnTo>
                  <a:cubicBezTo>
                    <a:pt x="33690" y="0"/>
                    <a:pt x="37196" y="676"/>
                    <a:pt x="40480" y="1992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99" y="-28525"/>
              <a:ext cx="42816" cy="85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769414" y="1017240"/>
            <a:ext cx="8540588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Domain Classification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57307" y="3236565"/>
            <a:ext cx="10123192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The domain classification module assigns each grievance to the appropriate department </a:t>
            </a:r>
            <a:r>
              <a:rPr lang="en-US" sz="2199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org_code</a:t>
            </a:r>
            <a:r>
              <a:rPr lang="en-US" sz="2199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, enabling efficient complaint routing.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54472" y="4802546"/>
            <a:ext cx="9985040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The grievance text is converted into numerical features using </a:t>
            </a:r>
            <a:r>
              <a:rPr lang="en-US" sz="2199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TF-IDF vectorization</a:t>
            </a:r>
            <a:r>
              <a:rPr lang="en-US" sz="2199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, capturing important words and short phrases (n-grams).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54472" y="6356123"/>
            <a:ext cx="8844439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The Linear SVM model </a:t>
            </a:r>
            <a:r>
              <a:rPr lang="en-US" sz="2199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was selected as the final model due to its superior performance on high-dimensional text data.</a:t>
            </a:r>
          </a:p>
        </p:txBody>
      </p:sp>
      <p:sp>
        <p:nvSpPr>
          <p:cNvPr id="28" name="Freeform 28"/>
          <p:cNvSpPr/>
          <p:nvPr/>
        </p:nvSpPr>
        <p:spPr>
          <a:xfrm>
            <a:off x="909038" y="1286864"/>
            <a:ext cx="759076" cy="759076"/>
          </a:xfrm>
          <a:custGeom>
            <a:avLst/>
            <a:gdLst/>
            <a:ahLst/>
            <a:cxnLst/>
            <a:rect l="l" t="t" r="r" b="b"/>
            <a:pathLst>
              <a:path w="759076" h="759076">
                <a:moveTo>
                  <a:pt x="0" y="0"/>
                </a:moveTo>
                <a:lnTo>
                  <a:pt x="759076" y="0"/>
                </a:lnTo>
                <a:lnTo>
                  <a:pt x="759076" y="759076"/>
                </a:lnTo>
                <a:lnTo>
                  <a:pt x="0" y="7590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3642583" y="7823877"/>
            <a:ext cx="2034361" cy="1817450"/>
            <a:chOff x="0" y="0"/>
            <a:chExt cx="1105281" cy="98742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05281" cy="987425"/>
            </a:xfrm>
            <a:custGeom>
              <a:avLst/>
              <a:gdLst/>
              <a:ahLst/>
              <a:cxnLst/>
              <a:rect l="l" t="t" r="r" b="b"/>
              <a:pathLst>
                <a:path w="1105281" h="987425">
                  <a:moveTo>
                    <a:pt x="1105281" y="186473"/>
                  </a:moveTo>
                  <a:lnTo>
                    <a:pt x="1105281" y="800952"/>
                  </a:lnTo>
                  <a:cubicBezTo>
                    <a:pt x="1105281" y="903938"/>
                    <a:pt x="1021794" y="987425"/>
                    <a:pt x="918808" y="987425"/>
                  </a:cubicBezTo>
                  <a:lnTo>
                    <a:pt x="186473" y="987425"/>
                  </a:lnTo>
                  <a:cubicBezTo>
                    <a:pt x="83487" y="987425"/>
                    <a:pt x="0" y="903938"/>
                    <a:pt x="0" y="800952"/>
                  </a:cubicBezTo>
                  <a:lnTo>
                    <a:pt x="0" y="186473"/>
                  </a:lnTo>
                  <a:cubicBezTo>
                    <a:pt x="0" y="83487"/>
                    <a:pt x="83487" y="0"/>
                    <a:pt x="186473" y="0"/>
                  </a:cubicBezTo>
                  <a:lnTo>
                    <a:pt x="918808" y="0"/>
                  </a:lnTo>
                  <a:cubicBezTo>
                    <a:pt x="1021794" y="0"/>
                    <a:pt x="1105281" y="83487"/>
                    <a:pt x="1105281" y="186473"/>
                  </a:cubicBezTo>
                  <a:close/>
                </a:path>
              </a:pathLst>
            </a:custGeom>
            <a:gradFill rotWithShape="1">
              <a:gsLst>
                <a:gs pos="0">
                  <a:srgbClr val="EBFAFF">
                    <a:alpha val="50000"/>
                  </a:srgbClr>
                </a:gs>
                <a:gs pos="100000">
                  <a:srgbClr val="87CEFB">
                    <a:alpha val="50000"/>
                  </a:srgbClr>
                </a:gs>
              </a:gsLst>
              <a:lin ang="2700000"/>
            </a:gradFill>
            <a:ln w="38100" cap="rnd">
              <a:solidFill>
                <a:srgbClr val="4A90E2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105281" cy="1025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3633058" y="8069311"/>
            <a:ext cx="1845158" cy="1077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5"/>
              </a:lnSpc>
            </a:pPr>
            <a:r>
              <a:rPr lang="en-US" sz="2317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 Accuracy</a:t>
            </a:r>
          </a:p>
          <a:p>
            <a:pPr algn="ctr">
              <a:lnSpc>
                <a:spcPts val="5425"/>
              </a:lnSpc>
            </a:pPr>
            <a:r>
              <a:rPr lang="en-US" sz="3617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  98 %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6826564" y="7823877"/>
            <a:ext cx="2034361" cy="1817450"/>
            <a:chOff x="0" y="0"/>
            <a:chExt cx="1105281" cy="98742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05281" cy="987425"/>
            </a:xfrm>
            <a:custGeom>
              <a:avLst/>
              <a:gdLst/>
              <a:ahLst/>
              <a:cxnLst/>
              <a:rect l="l" t="t" r="r" b="b"/>
              <a:pathLst>
                <a:path w="1105281" h="987425">
                  <a:moveTo>
                    <a:pt x="1105281" y="186473"/>
                  </a:moveTo>
                  <a:lnTo>
                    <a:pt x="1105281" y="800952"/>
                  </a:lnTo>
                  <a:cubicBezTo>
                    <a:pt x="1105281" y="903938"/>
                    <a:pt x="1021794" y="987425"/>
                    <a:pt x="918808" y="987425"/>
                  </a:cubicBezTo>
                  <a:lnTo>
                    <a:pt x="186473" y="987425"/>
                  </a:lnTo>
                  <a:cubicBezTo>
                    <a:pt x="83487" y="987425"/>
                    <a:pt x="0" y="903938"/>
                    <a:pt x="0" y="800952"/>
                  </a:cubicBezTo>
                  <a:lnTo>
                    <a:pt x="0" y="186473"/>
                  </a:lnTo>
                  <a:cubicBezTo>
                    <a:pt x="0" y="83487"/>
                    <a:pt x="83487" y="0"/>
                    <a:pt x="186473" y="0"/>
                  </a:cubicBezTo>
                  <a:lnTo>
                    <a:pt x="918808" y="0"/>
                  </a:lnTo>
                  <a:cubicBezTo>
                    <a:pt x="1021794" y="0"/>
                    <a:pt x="1105281" y="83487"/>
                    <a:pt x="1105281" y="186473"/>
                  </a:cubicBezTo>
                  <a:close/>
                </a:path>
              </a:pathLst>
            </a:custGeom>
            <a:gradFill rotWithShape="1">
              <a:gsLst>
                <a:gs pos="0">
                  <a:srgbClr val="EBFAFF">
                    <a:alpha val="50000"/>
                  </a:srgbClr>
                </a:gs>
                <a:gs pos="100000">
                  <a:srgbClr val="87CEFB">
                    <a:alpha val="50000"/>
                  </a:srgbClr>
                </a:gs>
              </a:gsLst>
              <a:lin ang="2700000"/>
            </a:gradFill>
            <a:ln w="38100" cap="rnd">
              <a:solidFill>
                <a:srgbClr val="4A90E2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105281" cy="1025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6826564" y="8069311"/>
            <a:ext cx="1845158" cy="1077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5"/>
              </a:lnSpc>
            </a:pPr>
            <a:r>
              <a:rPr lang="en-US" sz="2317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 Macro F1 </a:t>
            </a:r>
          </a:p>
          <a:p>
            <a:pPr algn="ctr">
              <a:lnSpc>
                <a:spcPts val="5425"/>
              </a:lnSpc>
            </a:pPr>
            <a:r>
              <a:rPr lang="en-US" sz="3617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  0.91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178069" y="4748920"/>
            <a:ext cx="4283356" cy="2082367"/>
            <a:chOff x="0" y="0"/>
            <a:chExt cx="1387997" cy="67477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" name="Freeform 3"/>
            <p:cNvSpPr/>
            <p:nvPr/>
          </p:nvSpPr>
          <p:spPr>
            <a:xfrm>
              <a:off x="0" y="0"/>
              <a:ext cx="1387997" cy="674779"/>
            </a:xfrm>
            <a:custGeom>
              <a:avLst/>
              <a:gdLst/>
              <a:ahLst/>
              <a:cxnLst/>
              <a:rect l="l" t="t" r="r" b="b"/>
              <a:pathLst>
                <a:path w="1387997" h="674779">
                  <a:moveTo>
                    <a:pt x="0" y="0"/>
                  </a:moveTo>
                  <a:lnTo>
                    <a:pt x="1387997" y="0"/>
                  </a:lnTo>
                  <a:lnTo>
                    <a:pt x="1387997" y="674779"/>
                  </a:lnTo>
                  <a:lnTo>
                    <a:pt x="0" y="674779"/>
                  </a:lnTo>
                  <a:close/>
                </a:path>
              </a:pathLst>
            </a:custGeom>
            <a:gradFill rotWithShape="1">
              <a:gsLst>
                <a:gs pos="0">
                  <a:srgbClr val="FFF2CC">
                    <a:alpha val="100000"/>
                  </a:srgbClr>
                </a:gs>
                <a:gs pos="100000">
                  <a:srgbClr val="FFD966">
                    <a:alpha val="100000"/>
                  </a:srgbClr>
                </a:gs>
              </a:gsLst>
              <a:lin ang="5400000"/>
            </a:gradFill>
            <a:ln w="381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87997" cy="712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377812" y="4864434"/>
            <a:ext cx="1802519" cy="1794012"/>
            <a:chOff x="0" y="0"/>
            <a:chExt cx="584096" cy="57496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Freeform 6"/>
            <p:cNvSpPr/>
            <p:nvPr/>
          </p:nvSpPr>
          <p:spPr>
            <a:xfrm>
              <a:off x="0" y="0"/>
              <a:ext cx="584096" cy="574962"/>
            </a:xfrm>
            <a:custGeom>
              <a:avLst/>
              <a:gdLst/>
              <a:ahLst/>
              <a:cxnLst/>
              <a:rect l="l" t="t" r="r" b="b"/>
              <a:pathLst>
                <a:path w="584096" h="574962">
                  <a:moveTo>
                    <a:pt x="0" y="0"/>
                  </a:moveTo>
                  <a:lnTo>
                    <a:pt x="584096" y="0"/>
                  </a:lnTo>
                  <a:lnTo>
                    <a:pt x="584096" y="574962"/>
                  </a:lnTo>
                  <a:lnTo>
                    <a:pt x="0" y="574962"/>
                  </a:lnTo>
                  <a:close/>
                </a:path>
              </a:pathLst>
            </a:custGeom>
            <a:gradFill rotWithShape="1">
              <a:gsLst>
                <a:gs pos="0">
                  <a:srgbClr val="FFF2CC">
                    <a:alpha val="100000"/>
                  </a:srgbClr>
                </a:gs>
                <a:gs pos="100000">
                  <a:srgbClr val="FFD966">
                    <a:alpha val="100000"/>
                  </a:srgbClr>
                </a:gs>
              </a:gsLst>
              <a:lin ang="5400000"/>
            </a:gradFill>
            <a:ln w="381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84096" cy="6130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319747" y="4864436"/>
            <a:ext cx="1969776" cy="1782474"/>
            <a:chOff x="0" y="0"/>
            <a:chExt cx="638295" cy="58743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Freeform 9"/>
            <p:cNvSpPr/>
            <p:nvPr/>
          </p:nvSpPr>
          <p:spPr>
            <a:xfrm>
              <a:off x="0" y="0"/>
              <a:ext cx="638295" cy="587439"/>
            </a:xfrm>
            <a:custGeom>
              <a:avLst/>
              <a:gdLst/>
              <a:ahLst/>
              <a:cxnLst/>
              <a:rect l="l" t="t" r="r" b="b"/>
              <a:pathLst>
                <a:path w="638295" h="587439">
                  <a:moveTo>
                    <a:pt x="0" y="0"/>
                  </a:moveTo>
                  <a:lnTo>
                    <a:pt x="638295" y="0"/>
                  </a:lnTo>
                  <a:lnTo>
                    <a:pt x="638295" y="587439"/>
                  </a:lnTo>
                  <a:lnTo>
                    <a:pt x="0" y="587439"/>
                  </a:lnTo>
                  <a:close/>
                </a:path>
              </a:pathLst>
            </a:custGeom>
            <a:gradFill rotWithShape="1">
              <a:gsLst>
                <a:gs pos="0">
                  <a:srgbClr val="FFF2CC">
                    <a:alpha val="100000"/>
                  </a:srgbClr>
                </a:gs>
                <a:gs pos="100000">
                  <a:srgbClr val="FFD966">
                    <a:alpha val="100000"/>
                  </a:srgbClr>
                </a:gs>
              </a:gsLst>
              <a:lin ang="5400000"/>
            </a:gradFill>
            <a:ln w="381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638295" cy="625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498152" y="4937346"/>
            <a:ext cx="1559125" cy="747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8"/>
              </a:lnSpc>
              <a:spcBef>
                <a:spcPct val="0"/>
              </a:spcBef>
            </a:pPr>
            <a:r>
              <a:rPr lang="en-US" sz="2148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Keyword Extract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319747" y="4937346"/>
            <a:ext cx="1969776" cy="747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8"/>
              </a:lnSpc>
              <a:spcBef>
                <a:spcPct val="0"/>
              </a:spcBef>
            </a:pPr>
            <a:r>
              <a:rPr lang="en-US" sz="2148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Text Summarize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65349" y="3009374"/>
            <a:ext cx="3939553" cy="1298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219" lvl="1" indent="-131610" algn="l">
              <a:lnSpc>
                <a:spcPts val="1706"/>
              </a:lnSpc>
              <a:buFont typeface="Arial"/>
              <a:buChar char="•"/>
            </a:pPr>
            <a:r>
              <a:rPr lang="en-US" sz="1219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grievance_text</a:t>
            </a:r>
            <a:r>
              <a:rPr lang="en-US" sz="1219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lang="en-US" sz="1219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= “I further to informing you that the temporary railway ...”</a:t>
            </a:r>
          </a:p>
          <a:p>
            <a:pPr marL="263219" lvl="1" indent="-131610" algn="l">
              <a:lnSpc>
                <a:spcPts val="1706"/>
              </a:lnSpc>
              <a:buFont typeface="Arial"/>
              <a:buChar char="•"/>
            </a:pPr>
            <a:r>
              <a:rPr lang="en-US" sz="1219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grievance_text_processed</a:t>
            </a:r>
            <a:r>
              <a:rPr lang="en-US" sz="1219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“informing temporary railway line crossing...”</a:t>
            </a:r>
          </a:p>
          <a:p>
            <a:pPr marL="263219" lvl="1" indent="-131610" algn="l">
              <a:lnSpc>
                <a:spcPts val="1706"/>
              </a:lnSpc>
              <a:buFont typeface="Arial"/>
              <a:buChar char="•"/>
            </a:pPr>
            <a:r>
              <a:rPr lang="en-US" sz="1219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org_code</a:t>
            </a:r>
            <a:r>
              <a:rPr lang="en-US" sz="1219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‘MORLY’</a:t>
            </a:r>
          </a:p>
          <a:p>
            <a:pPr algn="l">
              <a:lnSpc>
                <a:spcPts val="1706"/>
              </a:lnSpc>
              <a:spcBef>
                <a:spcPct val="0"/>
              </a:spcBef>
            </a:pPr>
            <a:endParaRPr lang="en-US" sz="1219">
              <a:solidFill>
                <a:srgbClr val="4A90E2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319747" y="7093027"/>
            <a:ext cx="3939553" cy="2165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219" lvl="1" indent="-131610" algn="l">
              <a:lnSpc>
                <a:spcPts val="1706"/>
              </a:lnSpc>
              <a:buFont typeface="Arial"/>
              <a:buChar char="•"/>
            </a:pPr>
            <a:r>
              <a:rPr lang="en-US" sz="1219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grievance_text</a:t>
            </a:r>
            <a:r>
              <a:rPr lang="en-US" sz="1219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lang="en-US" sz="1219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= “...”</a:t>
            </a:r>
          </a:p>
          <a:p>
            <a:pPr marL="263219" lvl="1" indent="-131610" algn="l">
              <a:lnSpc>
                <a:spcPts val="1706"/>
              </a:lnSpc>
              <a:buFont typeface="Arial"/>
              <a:buChar char="•"/>
            </a:pPr>
            <a:r>
              <a:rPr lang="en-US" sz="1219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grievance_text_processed</a:t>
            </a:r>
            <a:r>
              <a:rPr lang="en-US" sz="1219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...”</a:t>
            </a:r>
          </a:p>
          <a:p>
            <a:pPr marL="263219" lvl="1" indent="-131610" algn="l">
              <a:lnSpc>
                <a:spcPts val="1706"/>
              </a:lnSpc>
              <a:buFont typeface="Arial"/>
              <a:buChar char="•"/>
            </a:pPr>
            <a:r>
              <a:rPr lang="en-US" sz="1219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org_code</a:t>
            </a:r>
            <a:r>
              <a:rPr lang="en-US" sz="1219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‘MORLY’</a:t>
            </a:r>
          </a:p>
          <a:p>
            <a:pPr marL="263219" lvl="1" indent="-131610" algn="l">
              <a:lnSpc>
                <a:spcPts val="1706"/>
              </a:lnSpc>
              <a:buFont typeface="Arial"/>
              <a:buChar char="•"/>
            </a:pPr>
            <a:r>
              <a:rPr lang="en-US" sz="1219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keywords</a:t>
            </a:r>
            <a:r>
              <a:rPr lang="en-US" sz="1219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="['railway board', ‘madhyamgram’, 'bhaskar mitra'', 'board zone', 'zone psu', 'informing temporary', 'bad condition']"</a:t>
            </a:r>
          </a:p>
          <a:p>
            <a:pPr marL="263219" lvl="1" indent="-131610" algn="l">
              <a:lnSpc>
                <a:spcPts val="1706"/>
              </a:lnSpc>
              <a:buFont typeface="Arial"/>
              <a:buChar char="•"/>
            </a:pPr>
            <a:r>
              <a:rPr lang="en-US" sz="1219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extractive_summary</a:t>
            </a:r>
            <a:r>
              <a:rPr lang="en-US" sz="1219">
                <a:solidFill>
                  <a:srgbClr val="004AA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</a:t>
            </a:r>
            <a:r>
              <a:rPr lang="en-US" sz="1219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“railway board location madhyamgram informing temporary railway line crossing in a bad condition..“</a:t>
            </a:r>
          </a:p>
          <a:p>
            <a:pPr algn="l">
              <a:lnSpc>
                <a:spcPts val="1706"/>
              </a:lnSpc>
              <a:spcBef>
                <a:spcPct val="0"/>
              </a:spcBef>
            </a:pPr>
            <a:endParaRPr lang="en-US" sz="1219">
              <a:solidFill>
                <a:srgbClr val="4A90E2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611225" y="5808173"/>
            <a:ext cx="1355926" cy="549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629">
                <a:solidFill>
                  <a:srgbClr val="1F1F1F"/>
                </a:solidFill>
                <a:latin typeface="Merriweather"/>
                <a:ea typeface="Merriweather"/>
                <a:cs typeface="Merriweather"/>
                <a:sym typeface="Merriweather"/>
              </a:rPr>
              <a:t>YAKE and TextRank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26672" y="5808173"/>
            <a:ext cx="1355926" cy="549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629">
                <a:solidFill>
                  <a:srgbClr val="1F1F1F"/>
                </a:solidFill>
                <a:latin typeface="Merriweather"/>
                <a:ea typeface="Merriweather"/>
                <a:cs typeface="Merriweather"/>
                <a:sym typeface="Merriweather"/>
              </a:rPr>
              <a:t>Lex Rank Summarizer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2223896" y="1472277"/>
            <a:ext cx="4530045" cy="136733"/>
            <a:chOff x="0" y="0"/>
            <a:chExt cx="1193098" cy="3601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93098" cy="36012"/>
            </a:xfrm>
            <a:custGeom>
              <a:avLst/>
              <a:gdLst/>
              <a:ahLst/>
              <a:cxnLst/>
              <a:rect l="l" t="t" r="r" b="b"/>
              <a:pathLst>
                <a:path w="1193098" h="36012">
                  <a:moveTo>
                    <a:pt x="0" y="0"/>
                  </a:moveTo>
                  <a:lnTo>
                    <a:pt x="1193098" y="0"/>
                  </a:lnTo>
                  <a:lnTo>
                    <a:pt x="1193098" y="36012"/>
                  </a:lnTo>
                  <a:lnTo>
                    <a:pt x="0" y="3601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193098" cy="74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625531" y="1963935"/>
            <a:ext cx="6217838" cy="98685"/>
            <a:chOff x="0" y="0"/>
            <a:chExt cx="1637620" cy="2599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37620" cy="25991"/>
            </a:xfrm>
            <a:custGeom>
              <a:avLst/>
              <a:gdLst/>
              <a:ahLst/>
              <a:cxnLst/>
              <a:rect l="l" t="t" r="r" b="b"/>
              <a:pathLst>
                <a:path w="1637620" h="25991">
                  <a:moveTo>
                    <a:pt x="0" y="0"/>
                  </a:moveTo>
                  <a:lnTo>
                    <a:pt x="1637620" y="0"/>
                  </a:lnTo>
                  <a:lnTo>
                    <a:pt x="1637620" y="25991"/>
                  </a:lnTo>
                  <a:lnTo>
                    <a:pt x="0" y="25991"/>
                  </a:lnTo>
                  <a:close/>
                </a:path>
              </a:pathLst>
            </a:custGeom>
            <a:solidFill>
              <a:srgbClr val="F4C542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637620" cy="640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223896" y="1105733"/>
            <a:ext cx="761947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Keyword Extraction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2223896" y="1963935"/>
            <a:ext cx="962999" cy="98685"/>
            <a:chOff x="0" y="0"/>
            <a:chExt cx="253629" cy="2599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53629" cy="25991"/>
            </a:xfrm>
            <a:custGeom>
              <a:avLst/>
              <a:gdLst/>
              <a:ahLst/>
              <a:cxnLst/>
              <a:rect l="l" t="t" r="r" b="b"/>
              <a:pathLst>
                <a:path w="253629" h="25991">
                  <a:moveTo>
                    <a:pt x="0" y="0"/>
                  </a:moveTo>
                  <a:lnTo>
                    <a:pt x="253629" y="0"/>
                  </a:lnTo>
                  <a:lnTo>
                    <a:pt x="253629" y="25991"/>
                  </a:lnTo>
                  <a:lnTo>
                    <a:pt x="0" y="25991"/>
                  </a:lnTo>
                  <a:close/>
                </a:path>
              </a:pathLst>
            </a:custGeom>
            <a:solidFill>
              <a:srgbClr val="F4C542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53629" cy="640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28883" y="2995649"/>
            <a:ext cx="199634" cy="215470"/>
            <a:chOff x="0" y="0"/>
            <a:chExt cx="61214" cy="66167"/>
          </a:xfrm>
        </p:grpSpPr>
        <p:sp>
          <p:nvSpPr>
            <p:cNvPr id="28" name="Freeform 28"/>
            <p:cNvSpPr/>
            <p:nvPr/>
          </p:nvSpPr>
          <p:spPr>
            <a:xfrm>
              <a:off x="455" y="0"/>
              <a:ext cx="60304" cy="66062"/>
            </a:xfrm>
            <a:custGeom>
              <a:avLst/>
              <a:gdLst/>
              <a:ahLst/>
              <a:cxnLst/>
              <a:rect l="l" t="t" r="r" b="b"/>
              <a:pathLst>
                <a:path w="60304" h="66062">
                  <a:moveTo>
                    <a:pt x="40480" y="1992"/>
                  </a:moveTo>
                  <a:lnTo>
                    <a:pt x="40482" y="1992"/>
                  </a:lnTo>
                  <a:cubicBezTo>
                    <a:pt x="43771" y="3310"/>
                    <a:pt x="46794" y="5211"/>
                    <a:pt x="49407" y="7603"/>
                  </a:cubicBezTo>
                  <a:lnTo>
                    <a:pt x="49520" y="7707"/>
                  </a:lnTo>
                  <a:cubicBezTo>
                    <a:pt x="52210" y="10170"/>
                    <a:pt x="54454" y="13080"/>
                    <a:pt x="56154" y="16307"/>
                  </a:cubicBezTo>
                  <a:lnTo>
                    <a:pt x="56264" y="16516"/>
                  </a:lnTo>
                  <a:cubicBezTo>
                    <a:pt x="58037" y="19883"/>
                    <a:pt x="59247" y="23519"/>
                    <a:pt x="59844" y="27278"/>
                  </a:cubicBezTo>
                  <a:lnTo>
                    <a:pt x="59850" y="27316"/>
                  </a:lnTo>
                  <a:cubicBezTo>
                    <a:pt x="60452" y="31103"/>
                    <a:pt x="60455" y="34960"/>
                    <a:pt x="59858" y="38747"/>
                  </a:cubicBezTo>
                  <a:lnTo>
                    <a:pt x="59829" y="38934"/>
                  </a:lnTo>
                  <a:cubicBezTo>
                    <a:pt x="59242" y="42662"/>
                    <a:pt x="58037" y="46267"/>
                    <a:pt x="56264" y="49599"/>
                  </a:cubicBezTo>
                  <a:lnTo>
                    <a:pt x="56175" y="49766"/>
                  </a:lnTo>
                  <a:cubicBezTo>
                    <a:pt x="54461" y="52987"/>
                    <a:pt x="52211" y="55891"/>
                    <a:pt x="49520" y="58355"/>
                  </a:cubicBezTo>
                  <a:lnTo>
                    <a:pt x="49407" y="58459"/>
                  </a:lnTo>
                  <a:cubicBezTo>
                    <a:pt x="46794" y="60852"/>
                    <a:pt x="43771" y="62752"/>
                    <a:pt x="40482" y="64070"/>
                  </a:cubicBezTo>
                  <a:lnTo>
                    <a:pt x="40480" y="64070"/>
                  </a:lnTo>
                  <a:cubicBezTo>
                    <a:pt x="37196" y="65386"/>
                    <a:pt x="33690" y="66062"/>
                    <a:pt x="30152" y="66062"/>
                  </a:cubicBezTo>
                  <a:lnTo>
                    <a:pt x="30152" y="66062"/>
                  </a:lnTo>
                  <a:cubicBezTo>
                    <a:pt x="26614" y="66062"/>
                    <a:pt x="23108" y="65386"/>
                    <a:pt x="19824" y="64070"/>
                  </a:cubicBezTo>
                  <a:lnTo>
                    <a:pt x="19822" y="64070"/>
                  </a:lnTo>
                  <a:cubicBezTo>
                    <a:pt x="16533" y="62752"/>
                    <a:pt x="13510" y="60852"/>
                    <a:pt x="10897" y="58459"/>
                  </a:cubicBezTo>
                  <a:lnTo>
                    <a:pt x="10784" y="58355"/>
                  </a:lnTo>
                  <a:cubicBezTo>
                    <a:pt x="8093" y="55891"/>
                    <a:pt x="5843" y="52987"/>
                    <a:pt x="4129" y="49766"/>
                  </a:cubicBezTo>
                  <a:lnTo>
                    <a:pt x="4040" y="49599"/>
                  </a:lnTo>
                  <a:cubicBezTo>
                    <a:pt x="2267" y="46267"/>
                    <a:pt x="1062" y="42662"/>
                    <a:pt x="475" y="38934"/>
                  </a:cubicBezTo>
                  <a:lnTo>
                    <a:pt x="446" y="38747"/>
                  </a:lnTo>
                  <a:cubicBezTo>
                    <a:pt x="-151" y="34960"/>
                    <a:pt x="-148" y="31103"/>
                    <a:pt x="454" y="27316"/>
                  </a:cubicBezTo>
                  <a:lnTo>
                    <a:pt x="460" y="27278"/>
                  </a:lnTo>
                  <a:cubicBezTo>
                    <a:pt x="1057" y="23519"/>
                    <a:pt x="2267" y="19883"/>
                    <a:pt x="4040" y="16516"/>
                  </a:cubicBezTo>
                  <a:lnTo>
                    <a:pt x="4150" y="16307"/>
                  </a:lnTo>
                  <a:cubicBezTo>
                    <a:pt x="5850" y="13080"/>
                    <a:pt x="8094" y="10170"/>
                    <a:pt x="10784" y="7707"/>
                  </a:cubicBezTo>
                  <a:lnTo>
                    <a:pt x="10897" y="7603"/>
                  </a:lnTo>
                  <a:cubicBezTo>
                    <a:pt x="13510" y="5211"/>
                    <a:pt x="16533" y="3310"/>
                    <a:pt x="19822" y="1992"/>
                  </a:cubicBezTo>
                  <a:lnTo>
                    <a:pt x="19824" y="1992"/>
                  </a:lnTo>
                  <a:cubicBezTo>
                    <a:pt x="23108" y="676"/>
                    <a:pt x="26614" y="0"/>
                    <a:pt x="30152" y="0"/>
                  </a:cubicBezTo>
                  <a:lnTo>
                    <a:pt x="30152" y="0"/>
                  </a:lnTo>
                  <a:cubicBezTo>
                    <a:pt x="33690" y="0"/>
                    <a:pt x="37196" y="676"/>
                    <a:pt x="40480" y="1992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199" y="-28525"/>
              <a:ext cx="42816" cy="85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74316" y="2918385"/>
            <a:ext cx="9399257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This module extracts the most</a:t>
            </a:r>
            <a:r>
              <a:rPr lang="en-US" sz="2199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important terms and phrases </a:t>
            </a:r>
            <a:r>
              <a:rPr lang="en-US" sz="2199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from grievance text to identify the core issue.</a:t>
            </a:r>
          </a:p>
        </p:txBody>
      </p:sp>
      <p:sp>
        <p:nvSpPr>
          <p:cNvPr id="31" name="Freeform 31"/>
          <p:cNvSpPr/>
          <p:nvPr/>
        </p:nvSpPr>
        <p:spPr>
          <a:xfrm>
            <a:off x="1128517" y="1129384"/>
            <a:ext cx="856864" cy="952071"/>
          </a:xfrm>
          <a:custGeom>
            <a:avLst/>
            <a:gdLst/>
            <a:ahLst/>
            <a:cxnLst/>
            <a:rect l="l" t="t" r="r" b="b"/>
            <a:pathLst>
              <a:path w="856864" h="952071">
                <a:moveTo>
                  <a:pt x="0" y="0"/>
                </a:moveTo>
                <a:lnTo>
                  <a:pt x="856864" y="0"/>
                </a:lnTo>
                <a:lnTo>
                  <a:pt x="856864" y="952071"/>
                </a:lnTo>
                <a:lnTo>
                  <a:pt x="0" y="952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967151" y="2638598"/>
            <a:ext cx="298198" cy="2225837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013114" y="6798530"/>
            <a:ext cx="306634" cy="2288800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1274316" y="4184291"/>
            <a:ext cx="8503400" cy="1500057"/>
            <a:chOff x="0" y="0"/>
            <a:chExt cx="4619950" cy="81498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619950" cy="814985"/>
            </a:xfrm>
            <a:custGeom>
              <a:avLst/>
              <a:gdLst/>
              <a:ahLst/>
              <a:cxnLst/>
              <a:rect l="l" t="t" r="r" b="b"/>
              <a:pathLst>
                <a:path w="4619950" h="814985">
                  <a:moveTo>
                    <a:pt x="4619950" y="44612"/>
                  </a:moveTo>
                  <a:lnTo>
                    <a:pt x="4619950" y="770373"/>
                  </a:lnTo>
                  <a:cubicBezTo>
                    <a:pt x="4619950" y="782204"/>
                    <a:pt x="4615250" y="793552"/>
                    <a:pt x="4606884" y="801918"/>
                  </a:cubicBezTo>
                  <a:cubicBezTo>
                    <a:pt x="4598517" y="810284"/>
                    <a:pt x="4587170" y="814985"/>
                    <a:pt x="4575338" y="814985"/>
                  </a:cubicBezTo>
                  <a:lnTo>
                    <a:pt x="44612" y="814985"/>
                  </a:lnTo>
                  <a:cubicBezTo>
                    <a:pt x="32780" y="814985"/>
                    <a:pt x="21433" y="810284"/>
                    <a:pt x="13067" y="801918"/>
                  </a:cubicBezTo>
                  <a:cubicBezTo>
                    <a:pt x="4700" y="793552"/>
                    <a:pt x="0" y="782204"/>
                    <a:pt x="0" y="770373"/>
                  </a:cubicBezTo>
                  <a:lnTo>
                    <a:pt x="0" y="44612"/>
                  </a:lnTo>
                  <a:cubicBezTo>
                    <a:pt x="0" y="32780"/>
                    <a:pt x="4700" y="21433"/>
                    <a:pt x="13067" y="13067"/>
                  </a:cubicBezTo>
                  <a:cubicBezTo>
                    <a:pt x="21433" y="4700"/>
                    <a:pt x="32780" y="0"/>
                    <a:pt x="44612" y="0"/>
                  </a:cubicBezTo>
                  <a:lnTo>
                    <a:pt x="4575338" y="0"/>
                  </a:lnTo>
                  <a:cubicBezTo>
                    <a:pt x="4587170" y="0"/>
                    <a:pt x="4598517" y="4700"/>
                    <a:pt x="4606884" y="13067"/>
                  </a:cubicBezTo>
                  <a:cubicBezTo>
                    <a:pt x="4615250" y="21433"/>
                    <a:pt x="4619950" y="32780"/>
                    <a:pt x="4619950" y="44612"/>
                  </a:cubicBezTo>
                  <a:close/>
                </a:path>
              </a:pathLst>
            </a:custGeom>
            <a:gradFill rotWithShape="1">
              <a:gsLst>
                <a:gs pos="0">
                  <a:srgbClr val="EBFAFF">
                    <a:alpha val="50000"/>
                  </a:srgbClr>
                </a:gs>
                <a:gs pos="100000">
                  <a:srgbClr val="87CEFB">
                    <a:alpha val="50000"/>
                  </a:srgbClr>
                </a:gs>
              </a:gsLst>
              <a:lin ang="2700000"/>
            </a:gradFill>
            <a:ln w="38100" cap="rnd">
              <a:solidFill>
                <a:srgbClr val="4A90E2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4619950" cy="853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838796" y="4593558"/>
            <a:ext cx="1145930" cy="48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6"/>
              </a:lnSpc>
              <a:spcBef>
                <a:spcPct val="0"/>
              </a:spcBef>
            </a:pPr>
            <a:r>
              <a:rPr lang="en-US" sz="2883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YAKE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412300" y="4491991"/>
            <a:ext cx="6458216" cy="816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Yet Another Keyword Extractor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Unsupervised method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Extracts top keywords based on statistical features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339969" y="6183072"/>
            <a:ext cx="8503400" cy="1500057"/>
            <a:chOff x="0" y="0"/>
            <a:chExt cx="4619950" cy="81498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619950" cy="814985"/>
            </a:xfrm>
            <a:custGeom>
              <a:avLst/>
              <a:gdLst/>
              <a:ahLst/>
              <a:cxnLst/>
              <a:rect l="l" t="t" r="r" b="b"/>
              <a:pathLst>
                <a:path w="4619950" h="814985">
                  <a:moveTo>
                    <a:pt x="4619950" y="44612"/>
                  </a:moveTo>
                  <a:lnTo>
                    <a:pt x="4619950" y="770373"/>
                  </a:lnTo>
                  <a:cubicBezTo>
                    <a:pt x="4619950" y="782204"/>
                    <a:pt x="4615250" y="793552"/>
                    <a:pt x="4606884" y="801918"/>
                  </a:cubicBezTo>
                  <a:cubicBezTo>
                    <a:pt x="4598517" y="810284"/>
                    <a:pt x="4587170" y="814985"/>
                    <a:pt x="4575338" y="814985"/>
                  </a:cubicBezTo>
                  <a:lnTo>
                    <a:pt x="44612" y="814985"/>
                  </a:lnTo>
                  <a:cubicBezTo>
                    <a:pt x="32780" y="814985"/>
                    <a:pt x="21433" y="810284"/>
                    <a:pt x="13067" y="801918"/>
                  </a:cubicBezTo>
                  <a:cubicBezTo>
                    <a:pt x="4700" y="793552"/>
                    <a:pt x="0" y="782204"/>
                    <a:pt x="0" y="770373"/>
                  </a:cubicBezTo>
                  <a:lnTo>
                    <a:pt x="0" y="44612"/>
                  </a:lnTo>
                  <a:cubicBezTo>
                    <a:pt x="0" y="32780"/>
                    <a:pt x="4700" y="21433"/>
                    <a:pt x="13067" y="13067"/>
                  </a:cubicBezTo>
                  <a:cubicBezTo>
                    <a:pt x="21433" y="4700"/>
                    <a:pt x="32780" y="0"/>
                    <a:pt x="44612" y="0"/>
                  </a:cubicBezTo>
                  <a:lnTo>
                    <a:pt x="4575338" y="0"/>
                  </a:lnTo>
                  <a:cubicBezTo>
                    <a:pt x="4587170" y="0"/>
                    <a:pt x="4598517" y="4700"/>
                    <a:pt x="4606884" y="13067"/>
                  </a:cubicBezTo>
                  <a:cubicBezTo>
                    <a:pt x="4615250" y="21433"/>
                    <a:pt x="4619950" y="32780"/>
                    <a:pt x="4619950" y="44612"/>
                  </a:cubicBezTo>
                  <a:close/>
                </a:path>
              </a:pathLst>
            </a:custGeom>
            <a:gradFill rotWithShape="1">
              <a:gsLst>
                <a:gs pos="0">
                  <a:srgbClr val="EBFAFF">
                    <a:alpha val="50000"/>
                  </a:srgbClr>
                </a:gs>
                <a:gs pos="100000">
                  <a:srgbClr val="87CEFB">
                    <a:alpha val="50000"/>
                  </a:srgbClr>
                </a:gs>
              </a:gsLst>
              <a:lin ang="2700000"/>
            </a:gradFill>
            <a:ln w="38100" cap="rnd">
              <a:solidFill>
                <a:srgbClr val="4A90E2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4619950" cy="853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556949" y="6658446"/>
            <a:ext cx="1869772" cy="48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6"/>
              </a:lnSpc>
              <a:spcBef>
                <a:spcPct val="0"/>
              </a:spcBef>
            </a:pPr>
            <a:r>
              <a:rPr lang="en-US" sz="2883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TextRank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570015" y="6646909"/>
            <a:ext cx="6142786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Graph-based method inspired by PageRank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Identifies important phrases based on word relationships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339969" y="8178429"/>
            <a:ext cx="8503400" cy="1500057"/>
            <a:chOff x="0" y="0"/>
            <a:chExt cx="4619950" cy="814985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619950" cy="814985"/>
            </a:xfrm>
            <a:custGeom>
              <a:avLst/>
              <a:gdLst/>
              <a:ahLst/>
              <a:cxnLst/>
              <a:rect l="l" t="t" r="r" b="b"/>
              <a:pathLst>
                <a:path w="4619950" h="814985">
                  <a:moveTo>
                    <a:pt x="4619950" y="44612"/>
                  </a:moveTo>
                  <a:lnTo>
                    <a:pt x="4619950" y="770373"/>
                  </a:lnTo>
                  <a:cubicBezTo>
                    <a:pt x="4619950" y="782204"/>
                    <a:pt x="4615250" y="793552"/>
                    <a:pt x="4606884" y="801918"/>
                  </a:cubicBezTo>
                  <a:cubicBezTo>
                    <a:pt x="4598517" y="810284"/>
                    <a:pt x="4587170" y="814985"/>
                    <a:pt x="4575338" y="814985"/>
                  </a:cubicBezTo>
                  <a:lnTo>
                    <a:pt x="44612" y="814985"/>
                  </a:lnTo>
                  <a:cubicBezTo>
                    <a:pt x="32780" y="814985"/>
                    <a:pt x="21433" y="810284"/>
                    <a:pt x="13067" y="801918"/>
                  </a:cubicBezTo>
                  <a:cubicBezTo>
                    <a:pt x="4700" y="793552"/>
                    <a:pt x="0" y="782204"/>
                    <a:pt x="0" y="770373"/>
                  </a:cubicBezTo>
                  <a:lnTo>
                    <a:pt x="0" y="44612"/>
                  </a:lnTo>
                  <a:cubicBezTo>
                    <a:pt x="0" y="32780"/>
                    <a:pt x="4700" y="21433"/>
                    <a:pt x="13067" y="13067"/>
                  </a:cubicBezTo>
                  <a:cubicBezTo>
                    <a:pt x="21433" y="4700"/>
                    <a:pt x="32780" y="0"/>
                    <a:pt x="44612" y="0"/>
                  </a:cubicBezTo>
                  <a:lnTo>
                    <a:pt x="4575338" y="0"/>
                  </a:lnTo>
                  <a:cubicBezTo>
                    <a:pt x="4587170" y="0"/>
                    <a:pt x="4598517" y="4700"/>
                    <a:pt x="4606884" y="13067"/>
                  </a:cubicBezTo>
                  <a:cubicBezTo>
                    <a:pt x="4615250" y="21433"/>
                    <a:pt x="4619950" y="32780"/>
                    <a:pt x="4619950" y="44612"/>
                  </a:cubicBezTo>
                  <a:close/>
                </a:path>
              </a:pathLst>
            </a:custGeom>
            <a:gradFill rotWithShape="1">
              <a:gsLst>
                <a:gs pos="0">
                  <a:srgbClr val="EBFAFF">
                    <a:alpha val="50000"/>
                  </a:srgbClr>
                </a:gs>
                <a:gs pos="100000">
                  <a:srgbClr val="87CEFB">
                    <a:alpha val="50000"/>
                  </a:srgbClr>
                </a:gs>
              </a:gsLst>
              <a:lin ang="2700000"/>
            </a:gradFill>
            <a:ln w="38100" cap="rnd">
              <a:solidFill>
                <a:srgbClr val="4A90E2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4619950" cy="853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556949" y="8627507"/>
            <a:ext cx="1869772" cy="488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6"/>
              </a:lnSpc>
              <a:spcBef>
                <a:spcPct val="0"/>
              </a:spcBef>
            </a:pPr>
            <a:r>
              <a:rPr lang="en-US" sz="2883" b="1">
                <a:solidFill>
                  <a:srgbClr val="000000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LexRank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570015" y="8615970"/>
            <a:ext cx="6142786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Selects the most important sentences</a:t>
            </a:r>
          </a:p>
          <a:p>
            <a:pPr marL="345441" lvl="1" indent="-172721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Generates short summaries for long complaints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16373" y="4567719"/>
            <a:ext cx="4054865" cy="2144128"/>
            <a:chOff x="0" y="0"/>
            <a:chExt cx="1387997" cy="7339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" name="Freeform 3"/>
            <p:cNvSpPr/>
            <p:nvPr/>
          </p:nvSpPr>
          <p:spPr>
            <a:xfrm>
              <a:off x="0" y="0"/>
              <a:ext cx="1387997" cy="733944"/>
            </a:xfrm>
            <a:custGeom>
              <a:avLst/>
              <a:gdLst/>
              <a:ahLst/>
              <a:cxnLst/>
              <a:rect l="l" t="t" r="r" b="b"/>
              <a:pathLst>
                <a:path w="1387997" h="733944">
                  <a:moveTo>
                    <a:pt x="0" y="0"/>
                  </a:moveTo>
                  <a:lnTo>
                    <a:pt x="1387997" y="0"/>
                  </a:lnTo>
                  <a:lnTo>
                    <a:pt x="1387997" y="733944"/>
                  </a:lnTo>
                  <a:lnTo>
                    <a:pt x="0" y="733944"/>
                  </a:lnTo>
                  <a:close/>
                </a:path>
              </a:pathLst>
            </a:custGeom>
            <a:gradFill rotWithShape="1">
              <a:gsLst>
                <a:gs pos="0">
                  <a:srgbClr val="FFF2CC">
                    <a:alpha val="100000"/>
                  </a:srgbClr>
                </a:gs>
                <a:gs pos="100000">
                  <a:srgbClr val="FFD966">
                    <a:alpha val="100000"/>
                  </a:srgbClr>
                </a:gs>
              </a:gsLst>
              <a:lin ang="5400000"/>
            </a:gradFill>
            <a:ln w="381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87997" cy="7720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438923" y="4736704"/>
            <a:ext cx="3340656" cy="38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9"/>
              </a:lnSpc>
              <a:spcBef>
                <a:spcPct val="0"/>
              </a:spcBef>
            </a:pPr>
            <a:r>
              <a:rPr lang="en-US" sz="2349" b="1" dirty="0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Severity Risk Scoring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38923" y="5252040"/>
            <a:ext cx="3354569" cy="1120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4"/>
              </a:lnSpc>
              <a:spcBef>
                <a:spcPct val="0"/>
              </a:spcBef>
            </a:pPr>
            <a:r>
              <a:rPr lang="en-US" sz="1638" dirty="0">
                <a:solidFill>
                  <a:srgbClr val="1F1F1F"/>
                </a:solidFill>
                <a:latin typeface="Merriweather"/>
                <a:ea typeface="Merriweather"/>
                <a:cs typeface="Merriweather"/>
                <a:sym typeface="Merriweather"/>
              </a:rPr>
              <a:t>TF-IDF (n grams) , Contextual Metadata (org code, state, gender, and time attributes), Linear SVM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043805" y="7025173"/>
            <a:ext cx="3729401" cy="2246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9178" lvl="1" indent="-124589" algn="l">
              <a:lnSpc>
                <a:spcPts val="1615"/>
              </a:lnSpc>
              <a:buFont typeface="Arial"/>
              <a:buChar char="•"/>
            </a:pPr>
            <a:r>
              <a:rPr lang="en-US" sz="1154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grievance_text</a:t>
            </a:r>
            <a:r>
              <a:rPr lang="en-US" sz="1154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lang="en-US" sz="1154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= “I further to informing you that the temporary railway ...”</a:t>
            </a:r>
          </a:p>
          <a:p>
            <a:pPr marL="249178" lvl="1" indent="-124589" algn="l">
              <a:lnSpc>
                <a:spcPts val="1615"/>
              </a:lnSpc>
              <a:buFont typeface="Arial"/>
              <a:buChar char="•"/>
            </a:pPr>
            <a:r>
              <a:rPr lang="en-US" sz="1154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grievance_text_processed</a:t>
            </a:r>
            <a:r>
              <a:rPr lang="en-US" sz="1154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“informing temporary railway line crossing...”</a:t>
            </a:r>
          </a:p>
          <a:p>
            <a:pPr marL="249178" lvl="1" indent="-124589" algn="l">
              <a:lnSpc>
                <a:spcPts val="1615"/>
              </a:lnSpc>
              <a:buFont typeface="Arial"/>
              <a:buChar char="•"/>
            </a:pPr>
            <a:r>
              <a:rPr lang="en-US" sz="1154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org_code</a:t>
            </a:r>
            <a:r>
              <a:rPr lang="en-US" sz="1154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‘MORLY’</a:t>
            </a:r>
          </a:p>
          <a:p>
            <a:pPr marL="249178" lvl="1" indent="-124589" algn="l">
              <a:lnSpc>
                <a:spcPts val="1615"/>
              </a:lnSpc>
              <a:buFont typeface="Arial"/>
              <a:buChar char="•"/>
            </a:pPr>
            <a:r>
              <a:rPr lang="en-US" sz="1154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keywords</a:t>
            </a:r>
            <a:r>
              <a:rPr lang="en-US" sz="1154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="['railway board', 'bhaskar mitra'', 'board zone'..."</a:t>
            </a:r>
          </a:p>
          <a:p>
            <a:pPr marL="249178" lvl="1" indent="-124589" algn="l">
              <a:lnSpc>
                <a:spcPts val="1615"/>
              </a:lnSpc>
              <a:buFont typeface="Arial"/>
              <a:buChar char="•"/>
            </a:pPr>
            <a:r>
              <a:rPr lang="en-US" sz="1154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extractive_summary</a:t>
            </a:r>
            <a:r>
              <a:rPr lang="en-US" sz="1154">
                <a:solidFill>
                  <a:srgbClr val="004AA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</a:t>
            </a:r>
            <a:r>
              <a:rPr lang="en-US" sz="1154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“railway board location madhyamgram..“</a:t>
            </a:r>
          </a:p>
          <a:p>
            <a:pPr marL="249178" lvl="1" indent="-124589" algn="l">
              <a:lnSpc>
                <a:spcPts val="1615"/>
              </a:lnSpc>
              <a:buFont typeface="Arial"/>
              <a:buChar char="•"/>
            </a:pPr>
            <a:r>
              <a:rPr lang="en-US" sz="1154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urgency_tag</a:t>
            </a:r>
            <a:r>
              <a:rPr lang="en-US" sz="1154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‘high’</a:t>
            </a:r>
          </a:p>
          <a:p>
            <a:pPr algn="l">
              <a:lnSpc>
                <a:spcPts val="1615"/>
              </a:lnSpc>
              <a:spcBef>
                <a:spcPct val="0"/>
              </a:spcBef>
            </a:pPr>
            <a:endParaRPr lang="en-US" sz="1154">
              <a:solidFill>
                <a:srgbClr val="4A90E2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2201568" y="1352757"/>
            <a:ext cx="4530045" cy="136733"/>
            <a:chOff x="0" y="0"/>
            <a:chExt cx="1193098" cy="360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3098" cy="36012"/>
            </a:xfrm>
            <a:custGeom>
              <a:avLst/>
              <a:gdLst/>
              <a:ahLst/>
              <a:cxnLst/>
              <a:rect l="l" t="t" r="r" b="b"/>
              <a:pathLst>
                <a:path w="1193098" h="36012">
                  <a:moveTo>
                    <a:pt x="0" y="0"/>
                  </a:moveTo>
                  <a:lnTo>
                    <a:pt x="1193098" y="0"/>
                  </a:lnTo>
                  <a:lnTo>
                    <a:pt x="1193098" y="36012"/>
                  </a:lnTo>
                  <a:lnTo>
                    <a:pt x="0" y="3601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93098" cy="74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438400" y="1820570"/>
            <a:ext cx="2506174" cy="91856"/>
            <a:chOff x="0" y="0"/>
            <a:chExt cx="722438" cy="241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2438" cy="24192"/>
            </a:xfrm>
            <a:custGeom>
              <a:avLst/>
              <a:gdLst/>
              <a:ahLst/>
              <a:cxnLst/>
              <a:rect l="l" t="t" r="r" b="b"/>
              <a:pathLst>
                <a:path w="722438" h="24192">
                  <a:moveTo>
                    <a:pt x="0" y="0"/>
                  </a:moveTo>
                  <a:lnTo>
                    <a:pt x="722438" y="0"/>
                  </a:lnTo>
                  <a:lnTo>
                    <a:pt x="722438" y="24192"/>
                  </a:lnTo>
                  <a:lnTo>
                    <a:pt x="0" y="24192"/>
                  </a:lnTo>
                  <a:close/>
                </a:path>
              </a:pathLst>
            </a:custGeom>
            <a:solidFill>
              <a:srgbClr val="F4C54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22438" cy="6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201568" y="971550"/>
            <a:ext cx="826829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Severity Risk Scoring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301208" y="1820570"/>
            <a:ext cx="4587205" cy="91856"/>
            <a:chOff x="0" y="0"/>
            <a:chExt cx="1208153" cy="241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08153" cy="24192"/>
            </a:xfrm>
            <a:custGeom>
              <a:avLst/>
              <a:gdLst/>
              <a:ahLst/>
              <a:cxnLst/>
              <a:rect l="l" t="t" r="r" b="b"/>
              <a:pathLst>
                <a:path w="1208153" h="24192">
                  <a:moveTo>
                    <a:pt x="0" y="0"/>
                  </a:moveTo>
                  <a:lnTo>
                    <a:pt x="1208153" y="0"/>
                  </a:lnTo>
                  <a:lnTo>
                    <a:pt x="1208153" y="24192"/>
                  </a:lnTo>
                  <a:lnTo>
                    <a:pt x="0" y="24192"/>
                  </a:lnTo>
                  <a:close/>
                </a:path>
              </a:pathLst>
            </a:custGeom>
            <a:solidFill>
              <a:srgbClr val="F4C54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208153" cy="6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8883" y="3235449"/>
            <a:ext cx="199634" cy="215470"/>
            <a:chOff x="0" y="0"/>
            <a:chExt cx="61214" cy="66167"/>
          </a:xfrm>
        </p:grpSpPr>
        <p:sp>
          <p:nvSpPr>
            <p:cNvPr id="19" name="Freeform 19"/>
            <p:cNvSpPr/>
            <p:nvPr/>
          </p:nvSpPr>
          <p:spPr>
            <a:xfrm>
              <a:off x="455" y="0"/>
              <a:ext cx="60304" cy="66062"/>
            </a:xfrm>
            <a:custGeom>
              <a:avLst/>
              <a:gdLst/>
              <a:ahLst/>
              <a:cxnLst/>
              <a:rect l="l" t="t" r="r" b="b"/>
              <a:pathLst>
                <a:path w="60304" h="66062">
                  <a:moveTo>
                    <a:pt x="40480" y="1992"/>
                  </a:moveTo>
                  <a:lnTo>
                    <a:pt x="40482" y="1992"/>
                  </a:lnTo>
                  <a:cubicBezTo>
                    <a:pt x="43771" y="3310"/>
                    <a:pt x="46794" y="5211"/>
                    <a:pt x="49407" y="7603"/>
                  </a:cubicBezTo>
                  <a:lnTo>
                    <a:pt x="49520" y="7707"/>
                  </a:lnTo>
                  <a:cubicBezTo>
                    <a:pt x="52210" y="10170"/>
                    <a:pt x="54454" y="13080"/>
                    <a:pt x="56154" y="16307"/>
                  </a:cubicBezTo>
                  <a:lnTo>
                    <a:pt x="56264" y="16516"/>
                  </a:lnTo>
                  <a:cubicBezTo>
                    <a:pt x="58037" y="19883"/>
                    <a:pt x="59247" y="23519"/>
                    <a:pt x="59844" y="27278"/>
                  </a:cubicBezTo>
                  <a:lnTo>
                    <a:pt x="59850" y="27316"/>
                  </a:lnTo>
                  <a:cubicBezTo>
                    <a:pt x="60452" y="31103"/>
                    <a:pt x="60455" y="34960"/>
                    <a:pt x="59858" y="38747"/>
                  </a:cubicBezTo>
                  <a:lnTo>
                    <a:pt x="59829" y="38934"/>
                  </a:lnTo>
                  <a:cubicBezTo>
                    <a:pt x="59242" y="42662"/>
                    <a:pt x="58037" y="46267"/>
                    <a:pt x="56264" y="49599"/>
                  </a:cubicBezTo>
                  <a:lnTo>
                    <a:pt x="56175" y="49766"/>
                  </a:lnTo>
                  <a:cubicBezTo>
                    <a:pt x="54461" y="52987"/>
                    <a:pt x="52211" y="55891"/>
                    <a:pt x="49520" y="58355"/>
                  </a:cubicBezTo>
                  <a:lnTo>
                    <a:pt x="49407" y="58459"/>
                  </a:lnTo>
                  <a:cubicBezTo>
                    <a:pt x="46794" y="60852"/>
                    <a:pt x="43771" y="62752"/>
                    <a:pt x="40482" y="64070"/>
                  </a:cubicBezTo>
                  <a:lnTo>
                    <a:pt x="40480" y="64070"/>
                  </a:lnTo>
                  <a:cubicBezTo>
                    <a:pt x="37196" y="65386"/>
                    <a:pt x="33690" y="66062"/>
                    <a:pt x="30152" y="66062"/>
                  </a:cubicBezTo>
                  <a:lnTo>
                    <a:pt x="30152" y="66062"/>
                  </a:lnTo>
                  <a:cubicBezTo>
                    <a:pt x="26614" y="66062"/>
                    <a:pt x="23108" y="65386"/>
                    <a:pt x="19824" y="64070"/>
                  </a:cubicBezTo>
                  <a:lnTo>
                    <a:pt x="19822" y="64070"/>
                  </a:lnTo>
                  <a:cubicBezTo>
                    <a:pt x="16533" y="62752"/>
                    <a:pt x="13510" y="60852"/>
                    <a:pt x="10897" y="58459"/>
                  </a:cubicBezTo>
                  <a:lnTo>
                    <a:pt x="10784" y="58355"/>
                  </a:lnTo>
                  <a:cubicBezTo>
                    <a:pt x="8093" y="55891"/>
                    <a:pt x="5843" y="52987"/>
                    <a:pt x="4129" y="49766"/>
                  </a:cubicBezTo>
                  <a:lnTo>
                    <a:pt x="4040" y="49599"/>
                  </a:lnTo>
                  <a:cubicBezTo>
                    <a:pt x="2267" y="46267"/>
                    <a:pt x="1062" y="42662"/>
                    <a:pt x="475" y="38934"/>
                  </a:cubicBezTo>
                  <a:lnTo>
                    <a:pt x="446" y="38747"/>
                  </a:lnTo>
                  <a:cubicBezTo>
                    <a:pt x="-151" y="34960"/>
                    <a:pt x="-148" y="31103"/>
                    <a:pt x="454" y="27316"/>
                  </a:cubicBezTo>
                  <a:lnTo>
                    <a:pt x="460" y="27278"/>
                  </a:lnTo>
                  <a:cubicBezTo>
                    <a:pt x="1057" y="23519"/>
                    <a:pt x="2267" y="19883"/>
                    <a:pt x="4040" y="16516"/>
                  </a:cubicBezTo>
                  <a:lnTo>
                    <a:pt x="4150" y="16307"/>
                  </a:lnTo>
                  <a:cubicBezTo>
                    <a:pt x="5850" y="13080"/>
                    <a:pt x="8094" y="10170"/>
                    <a:pt x="10784" y="7707"/>
                  </a:cubicBezTo>
                  <a:lnTo>
                    <a:pt x="10897" y="7603"/>
                  </a:lnTo>
                  <a:cubicBezTo>
                    <a:pt x="13510" y="5211"/>
                    <a:pt x="16533" y="3310"/>
                    <a:pt x="19822" y="1992"/>
                  </a:cubicBezTo>
                  <a:lnTo>
                    <a:pt x="19824" y="1992"/>
                  </a:lnTo>
                  <a:cubicBezTo>
                    <a:pt x="23108" y="676"/>
                    <a:pt x="26614" y="0"/>
                    <a:pt x="30152" y="0"/>
                  </a:cubicBezTo>
                  <a:lnTo>
                    <a:pt x="30152" y="0"/>
                  </a:lnTo>
                  <a:cubicBezTo>
                    <a:pt x="33690" y="0"/>
                    <a:pt x="37196" y="676"/>
                    <a:pt x="40480" y="1992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199" y="-28525"/>
              <a:ext cx="42816" cy="85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28883" y="4908505"/>
            <a:ext cx="199634" cy="215470"/>
            <a:chOff x="0" y="0"/>
            <a:chExt cx="61214" cy="66167"/>
          </a:xfrm>
        </p:grpSpPr>
        <p:sp>
          <p:nvSpPr>
            <p:cNvPr id="22" name="Freeform 22"/>
            <p:cNvSpPr/>
            <p:nvPr/>
          </p:nvSpPr>
          <p:spPr>
            <a:xfrm>
              <a:off x="455" y="0"/>
              <a:ext cx="60304" cy="66062"/>
            </a:xfrm>
            <a:custGeom>
              <a:avLst/>
              <a:gdLst/>
              <a:ahLst/>
              <a:cxnLst/>
              <a:rect l="l" t="t" r="r" b="b"/>
              <a:pathLst>
                <a:path w="60304" h="66062">
                  <a:moveTo>
                    <a:pt x="40480" y="1992"/>
                  </a:moveTo>
                  <a:lnTo>
                    <a:pt x="40482" y="1992"/>
                  </a:lnTo>
                  <a:cubicBezTo>
                    <a:pt x="43771" y="3310"/>
                    <a:pt x="46794" y="5211"/>
                    <a:pt x="49407" y="7603"/>
                  </a:cubicBezTo>
                  <a:lnTo>
                    <a:pt x="49520" y="7707"/>
                  </a:lnTo>
                  <a:cubicBezTo>
                    <a:pt x="52210" y="10170"/>
                    <a:pt x="54454" y="13080"/>
                    <a:pt x="56154" y="16307"/>
                  </a:cubicBezTo>
                  <a:lnTo>
                    <a:pt x="56264" y="16516"/>
                  </a:lnTo>
                  <a:cubicBezTo>
                    <a:pt x="58037" y="19883"/>
                    <a:pt x="59247" y="23519"/>
                    <a:pt x="59844" y="27278"/>
                  </a:cubicBezTo>
                  <a:lnTo>
                    <a:pt x="59850" y="27316"/>
                  </a:lnTo>
                  <a:cubicBezTo>
                    <a:pt x="60452" y="31103"/>
                    <a:pt x="60455" y="34960"/>
                    <a:pt x="59858" y="38747"/>
                  </a:cubicBezTo>
                  <a:lnTo>
                    <a:pt x="59829" y="38934"/>
                  </a:lnTo>
                  <a:cubicBezTo>
                    <a:pt x="59242" y="42662"/>
                    <a:pt x="58037" y="46267"/>
                    <a:pt x="56264" y="49599"/>
                  </a:cubicBezTo>
                  <a:lnTo>
                    <a:pt x="56175" y="49766"/>
                  </a:lnTo>
                  <a:cubicBezTo>
                    <a:pt x="54461" y="52987"/>
                    <a:pt x="52211" y="55891"/>
                    <a:pt x="49520" y="58355"/>
                  </a:cubicBezTo>
                  <a:lnTo>
                    <a:pt x="49407" y="58459"/>
                  </a:lnTo>
                  <a:cubicBezTo>
                    <a:pt x="46794" y="60852"/>
                    <a:pt x="43771" y="62752"/>
                    <a:pt x="40482" y="64070"/>
                  </a:cubicBezTo>
                  <a:lnTo>
                    <a:pt x="40480" y="64070"/>
                  </a:lnTo>
                  <a:cubicBezTo>
                    <a:pt x="37196" y="65386"/>
                    <a:pt x="33690" y="66062"/>
                    <a:pt x="30152" y="66062"/>
                  </a:cubicBezTo>
                  <a:lnTo>
                    <a:pt x="30152" y="66062"/>
                  </a:lnTo>
                  <a:cubicBezTo>
                    <a:pt x="26614" y="66062"/>
                    <a:pt x="23108" y="65386"/>
                    <a:pt x="19824" y="64070"/>
                  </a:cubicBezTo>
                  <a:lnTo>
                    <a:pt x="19822" y="64070"/>
                  </a:lnTo>
                  <a:cubicBezTo>
                    <a:pt x="16533" y="62752"/>
                    <a:pt x="13510" y="60852"/>
                    <a:pt x="10897" y="58459"/>
                  </a:cubicBezTo>
                  <a:lnTo>
                    <a:pt x="10784" y="58355"/>
                  </a:lnTo>
                  <a:cubicBezTo>
                    <a:pt x="8093" y="55891"/>
                    <a:pt x="5843" y="52987"/>
                    <a:pt x="4129" y="49766"/>
                  </a:cubicBezTo>
                  <a:lnTo>
                    <a:pt x="4040" y="49599"/>
                  </a:lnTo>
                  <a:cubicBezTo>
                    <a:pt x="2267" y="46267"/>
                    <a:pt x="1062" y="42662"/>
                    <a:pt x="475" y="38934"/>
                  </a:cubicBezTo>
                  <a:lnTo>
                    <a:pt x="446" y="38747"/>
                  </a:lnTo>
                  <a:cubicBezTo>
                    <a:pt x="-151" y="34960"/>
                    <a:pt x="-148" y="31103"/>
                    <a:pt x="454" y="27316"/>
                  </a:cubicBezTo>
                  <a:lnTo>
                    <a:pt x="460" y="27278"/>
                  </a:lnTo>
                  <a:cubicBezTo>
                    <a:pt x="1057" y="23519"/>
                    <a:pt x="2267" y="19883"/>
                    <a:pt x="4040" y="16516"/>
                  </a:cubicBezTo>
                  <a:lnTo>
                    <a:pt x="4150" y="16307"/>
                  </a:lnTo>
                  <a:cubicBezTo>
                    <a:pt x="5850" y="13080"/>
                    <a:pt x="8094" y="10170"/>
                    <a:pt x="10784" y="7707"/>
                  </a:cubicBezTo>
                  <a:lnTo>
                    <a:pt x="10897" y="7603"/>
                  </a:lnTo>
                  <a:cubicBezTo>
                    <a:pt x="13510" y="5211"/>
                    <a:pt x="16533" y="3310"/>
                    <a:pt x="19822" y="1992"/>
                  </a:cubicBezTo>
                  <a:lnTo>
                    <a:pt x="19824" y="1992"/>
                  </a:lnTo>
                  <a:cubicBezTo>
                    <a:pt x="23108" y="676"/>
                    <a:pt x="26614" y="0"/>
                    <a:pt x="30152" y="0"/>
                  </a:cubicBezTo>
                  <a:lnTo>
                    <a:pt x="30152" y="0"/>
                  </a:lnTo>
                  <a:cubicBezTo>
                    <a:pt x="33690" y="0"/>
                    <a:pt x="37196" y="676"/>
                    <a:pt x="40480" y="1992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99" y="-28525"/>
              <a:ext cx="42816" cy="85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28883" y="6507681"/>
            <a:ext cx="199634" cy="215470"/>
            <a:chOff x="0" y="0"/>
            <a:chExt cx="61214" cy="66167"/>
          </a:xfrm>
        </p:grpSpPr>
        <p:sp>
          <p:nvSpPr>
            <p:cNvPr id="25" name="Freeform 25"/>
            <p:cNvSpPr/>
            <p:nvPr/>
          </p:nvSpPr>
          <p:spPr>
            <a:xfrm>
              <a:off x="455" y="0"/>
              <a:ext cx="60304" cy="66062"/>
            </a:xfrm>
            <a:custGeom>
              <a:avLst/>
              <a:gdLst/>
              <a:ahLst/>
              <a:cxnLst/>
              <a:rect l="l" t="t" r="r" b="b"/>
              <a:pathLst>
                <a:path w="60304" h="66062">
                  <a:moveTo>
                    <a:pt x="40480" y="1992"/>
                  </a:moveTo>
                  <a:lnTo>
                    <a:pt x="40482" y="1992"/>
                  </a:lnTo>
                  <a:cubicBezTo>
                    <a:pt x="43771" y="3310"/>
                    <a:pt x="46794" y="5211"/>
                    <a:pt x="49407" y="7603"/>
                  </a:cubicBezTo>
                  <a:lnTo>
                    <a:pt x="49520" y="7707"/>
                  </a:lnTo>
                  <a:cubicBezTo>
                    <a:pt x="52210" y="10170"/>
                    <a:pt x="54454" y="13080"/>
                    <a:pt x="56154" y="16307"/>
                  </a:cubicBezTo>
                  <a:lnTo>
                    <a:pt x="56264" y="16516"/>
                  </a:lnTo>
                  <a:cubicBezTo>
                    <a:pt x="58037" y="19883"/>
                    <a:pt x="59247" y="23519"/>
                    <a:pt x="59844" y="27278"/>
                  </a:cubicBezTo>
                  <a:lnTo>
                    <a:pt x="59850" y="27316"/>
                  </a:lnTo>
                  <a:cubicBezTo>
                    <a:pt x="60452" y="31103"/>
                    <a:pt x="60455" y="34960"/>
                    <a:pt x="59858" y="38747"/>
                  </a:cubicBezTo>
                  <a:lnTo>
                    <a:pt x="59829" y="38934"/>
                  </a:lnTo>
                  <a:cubicBezTo>
                    <a:pt x="59242" y="42662"/>
                    <a:pt x="58037" y="46267"/>
                    <a:pt x="56264" y="49599"/>
                  </a:cubicBezTo>
                  <a:lnTo>
                    <a:pt x="56175" y="49766"/>
                  </a:lnTo>
                  <a:cubicBezTo>
                    <a:pt x="54461" y="52987"/>
                    <a:pt x="52211" y="55891"/>
                    <a:pt x="49520" y="58355"/>
                  </a:cubicBezTo>
                  <a:lnTo>
                    <a:pt x="49407" y="58459"/>
                  </a:lnTo>
                  <a:cubicBezTo>
                    <a:pt x="46794" y="60852"/>
                    <a:pt x="43771" y="62752"/>
                    <a:pt x="40482" y="64070"/>
                  </a:cubicBezTo>
                  <a:lnTo>
                    <a:pt x="40480" y="64070"/>
                  </a:lnTo>
                  <a:cubicBezTo>
                    <a:pt x="37196" y="65386"/>
                    <a:pt x="33690" y="66062"/>
                    <a:pt x="30152" y="66062"/>
                  </a:cubicBezTo>
                  <a:lnTo>
                    <a:pt x="30152" y="66062"/>
                  </a:lnTo>
                  <a:cubicBezTo>
                    <a:pt x="26614" y="66062"/>
                    <a:pt x="23108" y="65386"/>
                    <a:pt x="19824" y="64070"/>
                  </a:cubicBezTo>
                  <a:lnTo>
                    <a:pt x="19822" y="64070"/>
                  </a:lnTo>
                  <a:cubicBezTo>
                    <a:pt x="16533" y="62752"/>
                    <a:pt x="13510" y="60852"/>
                    <a:pt x="10897" y="58459"/>
                  </a:cubicBezTo>
                  <a:lnTo>
                    <a:pt x="10784" y="58355"/>
                  </a:lnTo>
                  <a:cubicBezTo>
                    <a:pt x="8093" y="55891"/>
                    <a:pt x="5843" y="52987"/>
                    <a:pt x="4129" y="49766"/>
                  </a:cubicBezTo>
                  <a:lnTo>
                    <a:pt x="4040" y="49599"/>
                  </a:lnTo>
                  <a:cubicBezTo>
                    <a:pt x="2267" y="46267"/>
                    <a:pt x="1062" y="42662"/>
                    <a:pt x="475" y="38934"/>
                  </a:cubicBezTo>
                  <a:lnTo>
                    <a:pt x="446" y="38747"/>
                  </a:lnTo>
                  <a:cubicBezTo>
                    <a:pt x="-151" y="34960"/>
                    <a:pt x="-148" y="31103"/>
                    <a:pt x="454" y="27316"/>
                  </a:cubicBezTo>
                  <a:lnTo>
                    <a:pt x="460" y="27278"/>
                  </a:lnTo>
                  <a:cubicBezTo>
                    <a:pt x="1057" y="23519"/>
                    <a:pt x="2267" y="19883"/>
                    <a:pt x="4040" y="16516"/>
                  </a:cubicBezTo>
                  <a:lnTo>
                    <a:pt x="4150" y="16307"/>
                  </a:lnTo>
                  <a:cubicBezTo>
                    <a:pt x="5850" y="13080"/>
                    <a:pt x="8094" y="10170"/>
                    <a:pt x="10784" y="7707"/>
                  </a:cubicBezTo>
                  <a:lnTo>
                    <a:pt x="10897" y="7603"/>
                  </a:lnTo>
                  <a:cubicBezTo>
                    <a:pt x="13510" y="5211"/>
                    <a:pt x="16533" y="3310"/>
                    <a:pt x="19822" y="1992"/>
                  </a:cubicBezTo>
                  <a:lnTo>
                    <a:pt x="19824" y="1992"/>
                  </a:lnTo>
                  <a:cubicBezTo>
                    <a:pt x="23108" y="676"/>
                    <a:pt x="26614" y="0"/>
                    <a:pt x="30152" y="0"/>
                  </a:cubicBezTo>
                  <a:lnTo>
                    <a:pt x="30152" y="0"/>
                  </a:lnTo>
                  <a:cubicBezTo>
                    <a:pt x="33690" y="0"/>
                    <a:pt x="37196" y="676"/>
                    <a:pt x="40480" y="1992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199" y="-28525"/>
              <a:ext cx="42816" cy="85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74316" y="3158184"/>
            <a:ext cx="10143108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This module estimates the urgency level of each grievance and classifies it into </a:t>
            </a:r>
            <a:r>
              <a:rPr lang="en-US" sz="2199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High, Medium, or Low priority</a:t>
            </a:r>
            <a:r>
              <a:rPr lang="en-US" sz="2199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02891" y="4870405"/>
            <a:ext cx="10143108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The model uses a combination of textual features extracted using TF-IDF and contextual metadata.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74316" y="6428950"/>
            <a:ext cx="10354962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Multiple models were evaluated, </a:t>
            </a:r>
            <a:r>
              <a:rPr lang="en-US" sz="2199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Linear SVM model</a:t>
            </a:r>
            <a:r>
              <a:rPr lang="en-US" sz="2199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 was selected as the final model due to its superior performance on high-dimensional text data</a:t>
            </a:r>
          </a:p>
        </p:txBody>
      </p:sp>
      <p:sp>
        <p:nvSpPr>
          <p:cNvPr id="30" name="Freeform 30"/>
          <p:cNvSpPr/>
          <p:nvPr/>
        </p:nvSpPr>
        <p:spPr>
          <a:xfrm>
            <a:off x="1274316" y="1028700"/>
            <a:ext cx="731520" cy="914400"/>
          </a:xfrm>
          <a:custGeom>
            <a:avLst/>
            <a:gdLst/>
            <a:ahLst/>
            <a:cxnLst/>
            <a:rect l="l" t="t" r="r" b="b"/>
            <a:pathLst>
              <a:path w="731520" h="914400">
                <a:moveTo>
                  <a:pt x="0" y="0"/>
                </a:moveTo>
                <a:lnTo>
                  <a:pt x="731520" y="0"/>
                </a:lnTo>
                <a:lnTo>
                  <a:pt x="73152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695361" y="2273865"/>
            <a:ext cx="318416" cy="2376747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695361" y="6711847"/>
            <a:ext cx="302568" cy="2258456"/>
          </a:xfrm>
          <a:prstGeom prst="rect">
            <a:avLst/>
          </a:prstGeom>
        </p:spPr>
      </p:pic>
      <p:grpSp>
        <p:nvGrpSpPr>
          <p:cNvPr id="33" name="Group 33"/>
          <p:cNvGrpSpPr/>
          <p:nvPr/>
        </p:nvGrpSpPr>
        <p:grpSpPr>
          <a:xfrm>
            <a:off x="3337403" y="7841075"/>
            <a:ext cx="2034361" cy="1817450"/>
            <a:chOff x="0" y="0"/>
            <a:chExt cx="1105281" cy="98742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05281" cy="987425"/>
            </a:xfrm>
            <a:custGeom>
              <a:avLst/>
              <a:gdLst/>
              <a:ahLst/>
              <a:cxnLst/>
              <a:rect l="l" t="t" r="r" b="b"/>
              <a:pathLst>
                <a:path w="1105281" h="987425">
                  <a:moveTo>
                    <a:pt x="1105281" y="186473"/>
                  </a:moveTo>
                  <a:lnTo>
                    <a:pt x="1105281" y="800952"/>
                  </a:lnTo>
                  <a:cubicBezTo>
                    <a:pt x="1105281" y="903938"/>
                    <a:pt x="1021794" y="987425"/>
                    <a:pt x="918808" y="987425"/>
                  </a:cubicBezTo>
                  <a:lnTo>
                    <a:pt x="186473" y="987425"/>
                  </a:lnTo>
                  <a:cubicBezTo>
                    <a:pt x="83487" y="987425"/>
                    <a:pt x="0" y="903938"/>
                    <a:pt x="0" y="800952"/>
                  </a:cubicBezTo>
                  <a:lnTo>
                    <a:pt x="0" y="186473"/>
                  </a:lnTo>
                  <a:cubicBezTo>
                    <a:pt x="0" y="83487"/>
                    <a:pt x="83487" y="0"/>
                    <a:pt x="186473" y="0"/>
                  </a:cubicBezTo>
                  <a:lnTo>
                    <a:pt x="918808" y="0"/>
                  </a:lnTo>
                  <a:cubicBezTo>
                    <a:pt x="1021794" y="0"/>
                    <a:pt x="1105281" y="83487"/>
                    <a:pt x="1105281" y="186473"/>
                  </a:cubicBezTo>
                  <a:close/>
                </a:path>
              </a:pathLst>
            </a:custGeom>
            <a:gradFill rotWithShape="1">
              <a:gsLst>
                <a:gs pos="0">
                  <a:srgbClr val="EBFAFF">
                    <a:alpha val="50000"/>
                  </a:srgbClr>
                </a:gs>
                <a:gs pos="100000">
                  <a:srgbClr val="87CEFB">
                    <a:alpha val="50000"/>
                  </a:srgbClr>
                </a:gs>
              </a:gsLst>
              <a:lin ang="2700000"/>
            </a:gradFill>
            <a:ln w="38100" cap="rnd">
              <a:solidFill>
                <a:srgbClr val="4A90E2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105281" cy="1025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3327878" y="8086509"/>
            <a:ext cx="1845158" cy="1077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5"/>
              </a:lnSpc>
            </a:pPr>
            <a:r>
              <a:rPr lang="en-US" sz="2317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 Accuracy</a:t>
            </a:r>
          </a:p>
          <a:p>
            <a:pPr algn="ctr">
              <a:lnSpc>
                <a:spcPts val="5425"/>
              </a:lnSpc>
            </a:pPr>
            <a:r>
              <a:rPr lang="en-US" sz="3617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  94 %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6521384" y="7841075"/>
            <a:ext cx="2034361" cy="1817450"/>
            <a:chOff x="0" y="0"/>
            <a:chExt cx="1105281" cy="98742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105281" cy="987425"/>
            </a:xfrm>
            <a:custGeom>
              <a:avLst/>
              <a:gdLst/>
              <a:ahLst/>
              <a:cxnLst/>
              <a:rect l="l" t="t" r="r" b="b"/>
              <a:pathLst>
                <a:path w="1105281" h="987425">
                  <a:moveTo>
                    <a:pt x="1105281" y="186473"/>
                  </a:moveTo>
                  <a:lnTo>
                    <a:pt x="1105281" y="800952"/>
                  </a:lnTo>
                  <a:cubicBezTo>
                    <a:pt x="1105281" y="903938"/>
                    <a:pt x="1021794" y="987425"/>
                    <a:pt x="918808" y="987425"/>
                  </a:cubicBezTo>
                  <a:lnTo>
                    <a:pt x="186473" y="987425"/>
                  </a:lnTo>
                  <a:cubicBezTo>
                    <a:pt x="83487" y="987425"/>
                    <a:pt x="0" y="903938"/>
                    <a:pt x="0" y="800952"/>
                  </a:cubicBezTo>
                  <a:lnTo>
                    <a:pt x="0" y="186473"/>
                  </a:lnTo>
                  <a:cubicBezTo>
                    <a:pt x="0" y="83487"/>
                    <a:pt x="83487" y="0"/>
                    <a:pt x="186473" y="0"/>
                  </a:cubicBezTo>
                  <a:lnTo>
                    <a:pt x="918808" y="0"/>
                  </a:lnTo>
                  <a:cubicBezTo>
                    <a:pt x="1021794" y="0"/>
                    <a:pt x="1105281" y="83487"/>
                    <a:pt x="1105281" y="186473"/>
                  </a:cubicBezTo>
                  <a:close/>
                </a:path>
              </a:pathLst>
            </a:custGeom>
            <a:gradFill rotWithShape="1">
              <a:gsLst>
                <a:gs pos="0">
                  <a:srgbClr val="EBFAFF">
                    <a:alpha val="50000"/>
                  </a:srgbClr>
                </a:gs>
                <a:gs pos="100000">
                  <a:srgbClr val="87CEFB">
                    <a:alpha val="50000"/>
                  </a:srgbClr>
                </a:gs>
              </a:gsLst>
              <a:lin ang="2700000"/>
            </a:gradFill>
            <a:ln w="38100" cap="rnd">
              <a:solidFill>
                <a:srgbClr val="4A90E2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105281" cy="1025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6521384" y="8086509"/>
            <a:ext cx="1845158" cy="1077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5"/>
              </a:lnSpc>
            </a:pPr>
            <a:r>
              <a:rPr lang="en-US" sz="2317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 Macro F1 </a:t>
            </a:r>
          </a:p>
          <a:p>
            <a:pPr algn="ctr">
              <a:lnSpc>
                <a:spcPts val="5425"/>
              </a:lnSpc>
            </a:pPr>
            <a:r>
              <a:rPr lang="en-US" sz="3617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  0.93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012255" y="2245290"/>
            <a:ext cx="3939553" cy="2165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3219" lvl="1" indent="-131610" algn="l">
              <a:lnSpc>
                <a:spcPts val="1706"/>
              </a:lnSpc>
              <a:buFont typeface="Arial"/>
              <a:buChar char="•"/>
            </a:pPr>
            <a:r>
              <a:rPr lang="en-US" sz="1219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grievance_text</a:t>
            </a:r>
            <a:r>
              <a:rPr lang="en-US" sz="1219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lang="en-US" sz="1219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= “...”</a:t>
            </a:r>
          </a:p>
          <a:p>
            <a:pPr marL="263219" lvl="1" indent="-131610" algn="l">
              <a:lnSpc>
                <a:spcPts val="1706"/>
              </a:lnSpc>
              <a:buFont typeface="Arial"/>
              <a:buChar char="•"/>
            </a:pPr>
            <a:r>
              <a:rPr lang="en-US" sz="1219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grievance_text_processed</a:t>
            </a:r>
            <a:r>
              <a:rPr lang="en-US" sz="1219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...”</a:t>
            </a:r>
          </a:p>
          <a:p>
            <a:pPr marL="263219" lvl="1" indent="-131610" algn="l">
              <a:lnSpc>
                <a:spcPts val="1706"/>
              </a:lnSpc>
              <a:buFont typeface="Arial"/>
              <a:buChar char="•"/>
            </a:pPr>
            <a:r>
              <a:rPr lang="en-US" sz="1219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org_code</a:t>
            </a:r>
            <a:r>
              <a:rPr lang="en-US" sz="1219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‘MORLY’</a:t>
            </a:r>
          </a:p>
          <a:p>
            <a:pPr marL="263219" lvl="1" indent="-131610" algn="l">
              <a:lnSpc>
                <a:spcPts val="1706"/>
              </a:lnSpc>
              <a:buFont typeface="Arial"/>
              <a:buChar char="•"/>
            </a:pPr>
            <a:r>
              <a:rPr lang="en-US" sz="1219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keywords</a:t>
            </a:r>
            <a:r>
              <a:rPr lang="en-US" sz="1219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="['railway board', 'bhaskar mitra'', 'board zone', 'zone psu', 'zone psu', 'informing temporary', 'bad condition']"</a:t>
            </a:r>
          </a:p>
          <a:p>
            <a:pPr marL="263219" lvl="1" indent="-131610" algn="l">
              <a:lnSpc>
                <a:spcPts val="1706"/>
              </a:lnSpc>
              <a:buFont typeface="Arial"/>
              <a:buChar char="•"/>
            </a:pPr>
            <a:r>
              <a:rPr lang="en-US" sz="1219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extractive_summary</a:t>
            </a:r>
            <a:r>
              <a:rPr lang="en-US" sz="1219">
                <a:solidFill>
                  <a:srgbClr val="004AA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</a:t>
            </a:r>
            <a:r>
              <a:rPr lang="en-US" sz="1219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“railway board location madhyamgram informing temporary railway line crossing near madhyamgram..“</a:t>
            </a:r>
          </a:p>
          <a:p>
            <a:pPr algn="l">
              <a:lnSpc>
                <a:spcPts val="1706"/>
              </a:lnSpc>
              <a:spcBef>
                <a:spcPct val="0"/>
              </a:spcBef>
            </a:pPr>
            <a:endParaRPr lang="en-US" sz="1219">
              <a:solidFill>
                <a:srgbClr val="4A90E2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78068" y="7456958"/>
            <a:ext cx="1538132" cy="240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1"/>
              </a:lnSpc>
              <a:spcBef>
                <a:spcPct val="0"/>
              </a:spcBef>
            </a:pPr>
            <a:r>
              <a:rPr lang="en-US" sz="1436" dirty="0">
                <a:solidFill>
                  <a:srgbClr val="004AA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Add to database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778068" y="3048072"/>
            <a:ext cx="3481232" cy="1342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2597" lvl="1" indent="-116298" algn="l">
              <a:lnSpc>
                <a:spcPts val="1508"/>
              </a:lnSpc>
              <a:buFont typeface="Arial"/>
              <a:buChar char="•"/>
            </a:pPr>
            <a:r>
              <a:rPr lang="en-US" sz="1077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grievance_text</a:t>
            </a:r>
            <a:r>
              <a:rPr lang="en-US" sz="1077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lang="en-US" sz="1077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= “ ...”</a:t>
            </a:r>
          </a:p>
          <a:p>
            <a:pPr marL="232597" lvl="1" indent="-116298" algn="l">
              <a:lnSpc>
                <a:spcPts val="1508"/>
              </a:lnSpc>
              <a:buFont typeface="Arial"/>
              <a:buChar char="•"/>
            </a:pPr>
            <a:r>
              <a:rPr lang="en-US" sz="1077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grievance_text_processed</a:t>
            </a:r>
            <a:r>
              <a:rPr lang="en-US" sz="1077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“...”</a:t>
            </a:r>
          </a:p>
          <a:p>
            <a:pPr marL="232597" lvl="1" indent="-116298" algn="l">
              <a:lnSpc>
                <a:spcPts val="1508"/>
              </a:lnSpc>
              <a:buFont typeface="Arial"/>
              <a:buChar char="•"/>
            </a:pPr>
            <a:r>
              <a:rPr lang="en-US" sz="1077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org_code</a:t>
            </a:r>
            <a:r>
              <a:rPr lang="en-US" sz="1077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‘MORLY’</a:t>
            </a:r>
          </a:p>
          <a:p>
            <a:pPr marL="232597" lvl="1" indent="-116298" algn="l">
              <a:lnSpc>
                <a:spcPts val="1508"/>
              </a:lnSpc>
              <a:buFont typeface="Arial"/>
              <a:buChar char="•"/>
            </a:pPr>
            <a:r>
              <a:rPr lang="en-US" sz="1077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keywords</a:t>
            </a:r>
            <a:r>
              <a:rPr lang="en-US" sz="1077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="['railway board', 'bhaskar mitra''..."</a:t>
            </a:r>
          </a:p>
          <a:p>
            <a:pPr marL="232597" lvl="1" indent="-116298" algn="l">
              <a:lnSpc>
                <a:spcPts val="1508"/>
              </a:lnSpc>
              <a:buFont typeface="Arial"/>
              <a:buChar char="•"/>
            </a:pPr>
            <a:r>
              <a:rPr lang="en-US" sz="1077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extractive_summary</a:t>
            </a:r>
            <a:r>
              <a:rPr lang="en-US" sz="1077">
                <a:solidFill>
                  <a:srgbClr val="004AA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</a:t>
            </a:r>
            <a:r>
              <a:rPr lang="en-US" sz="1077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“..“</a:t>
            </a:r>
          </a:p>
          <a:p>
            <a:pPr marL="232597" lvl="1" indent="-116298" algn="l">
              <a:lnSpc>
                <a:spcPts val="1508"/>
              </a:lnSpc>
              <a:buFont typeface="Arial"/>
              <a:buChar char="•"/>
            </a:pPr>
            <a:r>
              <a:rPr lang="en-US" sz="1077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urgency_tag</a:t>
            </a:r>
            <a:r>
              <a:rPr lang="en-US" sz="1077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‘high’</a:t>
            </a:r>
          </a:p>
          <a:p>
            <a:pPr algn="l">
              <a:lnSpc>
                <a:spcPts val="1508"/>
              </a:lnSpc>
              <a:spcBef>
                <a:spcPct val="0"/>
              </a:spcBef>
            </a:pPr>
            <a:endParaRPr lang="en-US" sz="1077">
              <a:solidFill>
                <a:srgbClr val="4A90E2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778068" y="8005227"/>
            <a:ext cx="3481232" cy="1533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2597" lvl="1" indent="-116298" algn="l">
              <a:lnSpc>
                <a:spcPts val="1508"/>
              </a:lnSpc>
              <a:buFont typeface="Arial"/>
              <a:buChar char="•"/>
            </a:pPr>
            <a:r>
              <a:rPr lang="en-US" sz="1077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grievance_text</a:t>
            </a:r>
            <a:r>
              <a:rPr lang="en-US" sz="1077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lang="en-US" sz="1077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= “ ...”</a:t>
            </a:r>
          </a:p>
          <a:p>
            <a:pPr marL="232597" lvl="1" indent="-116298" algn="l">
              <a:lnSpc>
                <a:spcPts val="1508"/>
              </a:lnSpc>
              <a:buFont typeface="Arial"/>
              <a:buChar char="•"/>
            </a:pPr>
            <a:r>
              <a:rPr lang="en-US" sz="1077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grievance_text_processed</a:t>
            </a:r>
            <a:r>
              <a:rPr lang="en-US" sz="1077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“...”</a:t>
            </a:r>
          </a:p>
          <a:p>
            <a:pPr marL="232597" lvl="1" indent="-116298" algn="l">
              <a:lnSpc>
                <a:spcPts val="1508"/>
              </a:lnSpc>
              <a:buFont typeface="Arial"/>
              <a:buChar char="•"/>
            </a:pPr>
            <a:r>
              <a:rPr lang="en-US" sz="1077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org_code</a:t>
            </a:r>
            <a:r>
              <a:rPr lang="en-US" sz="1077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‘MORLY’</a:t>
            </a:r>
          </a:p>
          <a:p>
            <a:pPr marL="232597" lvl="1" indent="-116298" algn="l">
              <a:lnSpc>
                <a:spcPts val="1508"/>
              </a:lnSpc>
              <a:buFont typeface="Arial"/>
              <a:buChar char="•"/>
            </a:pPr>
            <a:r>
              <a:rPr lang="en-US" sz="1077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keywords</a:t>
            </a:r>
            <a:r>
              <a:rPr lang="en-US" sz="1077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="['railway board', 'bhaskar mitra''..."</a:t>
            </a:r>
          </a:p>
          <a:p>
            <a:pPr marL="232597" lvl="1" indent="-116298" algn="l">
              <a:lnSpc>
                <a:spcPts val="1508"/>
              </a:lnSpc>
              <a:buFont typeface="Arial"/>
              <a:buChar char="•"/>
            </a:pPr>
            <a:r>
              <a:rPr lang="en-US" sz="1077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extractive_summary</a:t>
            </a:r>
            <a:r>
              <a:rPr lang="en-US" sz="1077">
                <a:solidFill>
                  <a:srgbClr val="004AA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</a:t>
            </a:r>
            <a:r>
              <a:rPr lang="en-US" sz="1077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“..“</a:t>
            </a:r>
          </a:p>
          <a:p>
            <a:pPr marL="232597" lvl="1" indent="-116298" algn="l">
              <a:lnSpc>
                <a:spcPts val="1508"/>
              </a:lnSpc>
              <a:buFont typeface="Arial"/>
              <a:buChar char="•"/>
            </a:pPr>
            <a:r>
              <a:rPr lang="en-US" sz="1077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urgency_tag</a:t>
            </a:r>
            <a:r>
              <a:rPr lang="en-US" sz="1077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‘high’</a:t>
            </a:r>
          </a:p>
          <a:p>
            <a:pPr marL="232597" lvl="1" indent="-116298" algn="l">
              <a:lnSpc>
                <a:spcPts val="1508"/>
              </a:lnSpc>
              <a:buFont typeface="Arial"/>
              <a:buChar char="•"/>
            </a:pPr>
            <a:r>
              <a:rPr lang="en-US" sz="1077" b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predicted_time</a:t>
            </a:r>
            <a:r>
              <a:rPr lang="en-US" sz="1077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10.63 days</a:t>
            </a:r>
          </a:p>
          <a:p>
            <a:pPr algn="l">
              <a:lnSpc>
                <a:spcPts val="1508"/>
              </a:lnSpc>
              <a:spcBef>
                <a:spcPct val="0"/>
              </a:spcBef>
            </a:pPr>
            <a:endParaRPr lang="en-US" sz="1077">
              <a:solidFill>
                <a:srgbClr val="4A90E2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447800" y="1678727"/>
            <a:ext cx="4530045" cy="136733"/>
            <a:chOff x="0" y="0"/>
            <a:chExt cx="1193098" cy="360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3098" cy="36012"/>
            </a:xfrm>
            <a:custGeom>
              <a:avLst/>
              <a:gdLst/>
              <a:ahLst/>
              <a:cxnLst/>
              <a:rect l="l" t="t" r="r" b="b"/>
              <a:pathLst>
                <a:path w="1193098" h="36012">
                  <a:moveTo>
                    <a:pt x="0" y="0"/>
                  </a:moveTo>
                  <a:lnTo>
                    <a:pt x="1193098" y="0"/>
                  </a:lnTo>
                  <a:lnTo>
                    <a:pt x="1193098" y="36012"/>
                  </a:lnTo>
                  <a:lnTo>
                    <a:pt x="0" y="3601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93098" cy="74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65143" y="1979672"/>
            <a:ext cx="10549370" cy="98685"/>
            <a:chOff x="0" y="0"/>
            <a:chExt cx="2778435" cy="259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78435" cy="25991"/>
            </a:xfrm>
            <a:custGeom>
              <a:avLst/>
              <a:gdLst/>
              <a:ahLst/>
              <a:cxnLst/>
              <a:rect l="l" t="t" r="r" b="b"/>
              <a:pathLst>
                <a:path w="2778435" h="25991">
                  <a:moveTo>
                    <a:pt x="0" y="0"/>
                  </a:moveTo>
                  <a:lnTo>
                    <a:pt x="2778435" y="0"/>
                  </a:lnTo>
                  <a:lnTo>
                    <a:pt x="2778435" y="25991"/>
                  </a:lnTo>
                  <a:lnTo>
                    <a:pt x="0" y="25991"/>
                  </a:lnTo>
                  <a:close/>
                </a:path>
              </a:pathLst>
            </a:custGeom>
            <a:solidFill>
              <a:srgbClr val="F4C54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778435" cy="640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8883" y="3193182"/>
            <a:ext cx="199634" cy="215470"/>
            <a:chOff x="0" y="0"/>
            <a:chExt cx="61214" cy="66167"/>
          </a:xfrm>
        </p:grpSpPr>
        <p:sp>
          <p:nvSpPr>
            <p:cNvPr id="12" name="Freeform 12"/>
            <p:cNvSpPr/>
            <p:nvPr/>
          </p:nvSpPr>
          <p:spPr>
            <a:xfrm>
              <a:off x="455" y="0"/>
              <a:ext cx="60304" cy="66062"/>
            </a:xfrm>
            <a:custGeom>
              <a:avLst/>
              <a:gdLst/>
              <a:ahLst/>
              <a:cxnLst/>
              <a:rect l="l" t="t" r="r" b="b"/>
              <a:pathLst>
                <a:path w="60304" h="66062">
                  <a:moveTo>
                    <a:pt x="40480" y="1992"/>
                  </a:moveTo>
                  <a:lnTo>
                    <a:pt x="40482" y="1992"/>
                  </a:lnTo>
                  <a:cubicBezTo>
                    <a:pt x="43771" y="3310"/>
                    <a:pt x="46794" y="5211"/>
                    <a:pt x="49407" y="7603"/>
                  </a:cubicBezTo>
                  <a:lnTo>
                    <a:pt x="49520" y="7707"/>
                  </a:lnTo>
                  <a:cubicBezTo>
                    <a:pt x="52210" y="10170"/>
                    <a:pt x="54454" y="13080"/>
                    <a:pt x="56154" y="16307"/>
                  </a:cubicBezTo>
                  <a:lnTo>
                    <a:pt x="56264" y="16516"/>
                  </a:lnTo>
                  <a:cubicBezTo>
                    <a:pt x="58037" y="19883"/>
                    <a:pt x="59247" y="23519"/>
                    <a:pt x="59844" y="27278"/>
                  </a:cubicBezTo>
                  <a:lnTo>
                    <a:pt x="59850" y="27316"/>
                  </a:lnTo>
                  <a:cubicBezTo>
                    <a:pt x="60452" y="31103"/>
                    <a:pt x="60455" y="34960"/>
                    <a:pt x="59858" y="38747"/>
                  </a:cubicBezTo>
                  <a:lnTo>
                    <a:pt x="59829" y="38934"/>
                  </a:lnTo>
                  <a:cubicBezTo>
                    <a:pt x="59242" y="42662"/>
                    <a:pt x="58037" y="46267"/>
                    <a:pt x="56264" y="49599"/>
                  </a:cubicBezTo>
                  <a:lnTo>
                    <a:pt x="56175" y="49766"/>
                  </a:lnTo>
                  <a:cubicBezTo>
                    <a:pt x="54461" y="52987"/>
                    <a:pt x="52211" y="55891"/>
                    <a:pt x="49520" y="58355"/>
                  </a:cubicBezTo>
                  <a:lnTo>
                    <a:pt x="49407" y="58459"/>
                  </a:lnTo>
                  <a:cubicBezTo>
                    <a:pt x="46794" y="60852"/>
                    <a:pt x="43771" y="62752"/>
                    <a:pt x="40482" y="64070"/>
                  </a:cubicBezTo>
                  <a:lnTo>
                    <a:pt x="40480" y="64070"/>
                  </a:lnTo>
                  <a:cubicBezTo>
                    <a:pt x="37196" y="65386"/>
                    <a:pt x="33690" y="66062"/>
                    <a:pt x="30152" y="66062"/>
                  </a:cubicBezTo>
                  <a:lnTo>
                    <a:pt x="30152" y="66062"/>
                  </a:lnTo>
                  <a:cubicBezTo>
                    <a:pt x="26614" y="66062"/>
                    <a:pt x="23108" y="65386"/>
                    <a:pt x="19824" y="64070"/>
                  </a:cubicBezTo>
                  <a:lnTo>
                    <a:pt x="19822" y="64070"/>
                  </a:lnTo>
                  <a:cubicBezTo>
                    <a:pt x="16533" y="62752"/>
                    <a:pt x="13510" y="60852"/>
                    <a:pt x="10897" y="58459"/>
                  </a:cubicBezTo>
                  <a:lnTo>
                    <a:pt x="10784" y="58355"/>
                  </a:lnTo>
                  <a:cubicBezTo>
                    <a:pt x="8093" y="55891"/>
                    <a:pt x="5843" y="52987"/>
                    <a:pt x="4129" y="49766"/>
                  </a:cubicBezTo>
                  <a:lnTo>
                    <a:pt x="4040" y="49599"/>
                  </a:lnTo>
                  <a:cubicBezTo>
                    <a:pt x="2267" y="46267"/>
                    <a:pt x="1062" y="42662"/>
                    <a:pt x="475" y="38934"/>
                  </a:cubicBezTo>
                  <a:lnTo>
                    <a:pt x="446" y="38747"/>
                  </a:lnTo>
                  <a:cubicBezTo>
                    <a:pt x="-151" y="34960"/>
                    <a:pt x="-148" y="31103"/>
                    <a:pt x="454" y="27316"/>
                  </a:cubicBezTo>
                  <a:lnTo>
                    <a:pt x="460" y="27278"/>
                  </a:lnTo>
                  <a:cubicBezTo>
                    <a:pt x="1057" y="23519"/>
                    <a:pt x="2267" y="19883"/>
                    <a:pt x="4040" y="16516"/>
                  </a:cubicBezTo>
                  <a:lnTo>
                    <a:pt x="4150" y="16307"/>
                  </a:lnTo>
                  <a:cubicBezTo>
                    <a:pt x="5850" y="13080"/>
                    <a:pt x="8094" y="10170"/>
                    <a:pt x="10784" y="7707"/>
                  </a:cubicBezTo>
                  <a:lnTo>
                    <a:pt x="10897" y="7603"/>
                  </a:lnTo>
                  <a:cubicBezTo>
                    <a:pt x="13510" y="5211"/>
                    <a:pt x="16533" y="3310"/>
                    <a:pt x="19822" y="1992"/>
                  </a:cubicBezTo>
                  <a:lnTo>
                    <a:pt x="19824" y="1992"/>
                  </a:lnTo>
                  <a:cubicBezTo>
                    <a:pt x="23108" y="676"/>
                    <a:pt x="26614" y="0"/>
                    <a:pt x="30152" y="0"/>
                  </a:cubicBezTo>
                  <a:lnTo>
                    <a:pt x="30152" y="0"/>
                  </a:lnTo>
                  <a:cubicBezTo>
                    <a:pt x="33690" y="0"/>
                    <a:pt x="37196" y="676"/>
                    <a:pt x="40480" y="1992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99" y="-28525"/>
              <a:ext cx="42816" cy="85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8883" y="4777078"/>
            <a:ext cx="199634" cy="215470"/>
            <a:chOff x="0" y="0"/>
            <a:chExt cx="61214" cy="66167"/>
          </a:xfrm>
        </p:grpSpPr>
        <p:sp>
          <p:nvSpPr>
            <p:cNvPr id="15" name="Freeform 15"/>
            <p:cNvSpPr/>
            <p:nvPr/>
          </p:nvSpPr>
          <p:spPr>
            <a:xfrm>
              <a:off x="455" y="0"/>
              <a:ext cx="60304" cy="66062"/>
            </a:xfrm>
            <a:custGeom>
              <a:avLst/>
              <a:gdLst/>
              <a:ahLst/>
              <a:cxnLst/>
              <a:rect l="l" t="t" r="r" b="b"/>
              <a:pathLst>
                <a:path w="60304" h="66062">
                  <a:moveTo>
                    <a:pt x="40480" y="1992"/>
                  </a:moveTo>
                  <a:lnTo>
                    <a:pt x="40482" y="1992"/>
                  </a:lnTo>
                  <a:cubicBezTo>
                    <a:pt x="43771" y="3310"/>
                    <a:pt x="46794" y="5211"/>
                    <a:pt x="49407" y="7603"/>
                  </a:cubicBezTo>
                  <a:lnTo>
                    <a:pt x="49520" y="7707"/>
                  </a:lnTo>
                  <a:cubicBezTo>
                    <a:pt x="52210" y="10170"/>
                    <a:pt x="54454" y="13080"/>
                    <a:pt x="56154" y="16307"/>
                  </a:cubicBezTo>
                  <a:lnTo>
                    <a:pt x="56264" y="16516"/>
                  </a:lnTo>
                  <a:cubicBezTo>
                    <a:pt x="58037" y="19883"/>
                    <a:pt x="59247" y="23519"/>
                    <a:pt x="59844" y="27278"/>
                  </a:cubicBezTo>
                  <a:lnTo>
                    <a:pt x="59850" y="27316"/>
                  </a:lnTo>
                  <a:cubicBezTo>
                    <a:pt x="60452" y="31103"/>
                    <a:pt x="60455" y="34960"/>
                    <a:pt x="59858" y="38747"/>
                  </a:cubicBezTo>
                  <a:lnTo>
                    <a:pt x="59829" y="38934"/>
                  </a:lnTo>
                  <a:cubicBezTo>
                    <a:pt x="59242" y="42662"/>
                    <a:pt x="58037" y="46267"/>
                    <a:pt x="56264" y="49599"/>
                  </a:cubicBezTo>
                  <a:lnTo>
                    <a:pt x="56175" y="49766"/>
                  </a:lnTo>
                  <a:cubicBezTo>
                    <a:pt x="54461" y="52987"/>
                    <a:pt x="52211" y="55891"/>
                    <a:pt x="49520" y="58355"/>
                  </a:cubicBezTo>
                  <a:lnTo>
                    <a:pt x="49407" y="58459"/>
                  </a:lnTo>
                  <a:cubicBezTo>
                    <a:pt x="46794" y="60852"/>
                    <a:pt x="43771" y="62752"/>
                    <a:pt x="40482" y="64070"/>
                  </a:cubicBezTo>
                  <a:lnTo>
                    <a:pt x="40480" y="64070"/>
                  </a:lnTo>
                  <a:cubicBezTo>
                    <a:pt x="37196" y="65386"/>
                    <a:pt x="33690" y="66062"/>
                    <a:pt x="30152" y="66062"/>
                  </a:cubicBezTo>
                  <a:lnTo>
                    <a:pt x="30152" y="66062"/>
                  </a:lnTo>
                  <a:cubicBezTo>
                    <a:pt x="26614" y="66062"/>
                    <a:pt x="23108" y="65386"/>
                    <a:pt x="19824" y="64070"/>
                  </a:cubicBezTo>
                  <a:lnTo>
                    <a:pt x="19822" y="64070"/>
                  </a:lnTo>
                  <a:cubicBezTo>
                    <a:pt x="16533" y="62752"/>
                    <a:pt x="13510" y="60852"/>
                    <a:pt x="10897" y="58459"/>
                  </a:cubicBezTo>
                  <a:lnTo>
                    <a:pt x="10784" y="58355"/>
                  </a:lnTo>
                  <a:cubicBezTo>
                    <a:pt x="8093" y="55891"/>
                    <a:pt x="5843" y="52987"/>
                    <a:pt x="4129" y="49766"/>
                  </a:cubicBezTo>
                  <a:lnTo>
                    <a:pt x="4040" y="49599"/>
                  </a:lnTo>
                  <a:cubicBezTo>
                    <a:pt x="2267" y="46267"/>
                    <a:pt x="1062" y="42662"/>
                    <a:pt x="475" y="38934"/>
                  </a:cubicBezTo>
                  <a:lnTo>
                    <a:pt x="446" y="38747"/>
                  </a:lnTo>
                  <a:cubicBezTo>
                    <a:pt x="-151" y="34960"/>
                    <a:pt x="-148" y="31103"/>
                    <a:pt x="454" y="27316"/>
                  </a:cubicBezTo>
                  <a:lnTo>
                    <a:pt x="460" y="27278"/>
                  </a:lnTo>
                  <a:cubicBezTo>
                    <a:pt x="1057" y="23519"/>
                    <a:pt x="2267" y="19883"/>
                    <a:pt x="4040" y="16516"/>
                  </a:cubicBezTo>
                  <a:lnTo>
                    <a:pt x="4150" y="16307"/>
                  </a:lnTo>
                  <a:cubicBezTo>
                    <a:pt x="5850" y="13080"/>
                    <a:pt x="8094" y="10170"/>
                    <a:pt x="10784" y="7707"/>
                  </a:cubicBezTo>
                  <a:lnTo>
                    <a:pt x="10897" y="7603"/>
                  </a:lnTo>
                  <a:cubicBezTo>
                    <a:pt x="13510" y="5211"/>
                    <a:pt x="16533" y="3310"/>
                    <a:pt x="19822" y="1992"/>
                  </a:cubicBezTo>
                  <a:lnTo>
                    <a:pt x="19824" y="1992"/>
                  </a:lnTo>
                  <a:cubicBezTo>
                    <a:pt x="23108" y="676"/>
                    <a:pt x="26614" y="0"/>
                    <a:pt x="30152" y="0"/>
                  </a:cubicBezTo>
                  <a:lnTo>
                    <a:pt x="30152" y="0"/>
                  </a:lnTo>
                  <a:cubicBezTo>
                    <a:pt x="33690" y="0"/>
                    <a:pt x="37196" y="676"/>
                    <a:pt x="40480" y="1992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99" y="-28525"/>
              <a:ext cx="42816" cy="85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8883" y="6297895"/>
            <a:ext cx="199634" cy="215470"/>
            <a:chOff x="0" y="0"/>
            <a:chExt cx="61214" cy="66167"/>
          </a:xfrm>
        </p:grpSpPr>
        <p:sp>
          <p:nvSpPr>
            <p:cNvPr id="18" name="Freeform 18"/>
            <p:cNvSpPr/>
            <p:nvPr/>
          </p:nvSpPr>
          <p:spPr>
            <a:xfrm>
              <a:off x="455" y="0"/>
              <a:ext cx="60304" cy="66062"/>
            </a:xfrm>
            <a:custGeom>
              <a:avLst/>
              <a:gdLst/>
              <a:ahLst/>
              <a:cxnLst/>
              <a:rect l="l" t="t" r="r" b="b"/>
              <a:pathLst>
                <a:path w="60304" h="66062">
                  <a:moveTo>
                    <a:pt x="40480" y="1992"/>
                  </a:moveTo>
                  <a:lnTo>
                    <a:pt x="40482" y="1992"/>
                  </a:lnTo>
                  <a:cubicBezTo>
                    <a:pt x="43771" y="3310"/>
                    <a:pt x="46794" y="5211"/>
                    <a:pt x="49407" y="7603"/>
                  </a:cubicBezTo>
                  <a:lnTo>
                    <a:pt x="49520" y="7707"/>
                  </a:lnTo>
                  <a:cubicBezTo>
                    <a:pt x="52210" y="10170"/>
                    <a:pt x="54454" y="13080"/>
                    <a:pt x="56154" y="16307"/>
                  </a:cubicBezTo>
                  <a:lnTo>
                    <a:pt x="56264" y="16516"/>
                  </a:lnTo>
                  <a:cubicBezTo>
                    <a:pt x="58037" y="19883"/>
                    <a:pt x="59247" y="23519"/>
                    <a:pt x="59844" y="27278"/>
                  </a:cubicBezTo>
                  <a:lnTo>
                    <a:pt x="59850" y="27316"/>
                  </a:lnTo>
                  <a:cubicBezTo>
                    <a:pt x="60452" y="31103"/>
                    <a:pt x="60455" y="34960"/>
                    <a:pt x="59858" y="38747"/>
                  </a:cubicBezTo>
                  <a:lnTo>
                    <a:pt x="59829" y="38934"/>
                  </a:lnTo>
                  <a:cubicBezTo>
                    <a:pt x="59242" y="42662"/>
                    <a:pt x="58037" y="46267"/>
                    <a:pt x="56264" y="49599"/>
                  </a:cubicBezTo>
                  <a:lnTo>
                    <a:pt x="56175" y="49766"/>
                  </a:lnTo>
                  <a:cubicBezTo>
                    <a:pt x="54461" y="52987"/>
                    <a:pt x="52211" y="55891"/>
                    <a:pt x="49520" y="58355"/>
                  </a:cubicBezTo>
                  <a:lnTo>
                    <a:pt x="49407" y="58459"/>
                  </a:lnTo>
                  <a:cubicBezTo>
                    <a:pt x="46794" y="60852"/>
                    <a:pt x="43771" y="62752"/>
                    <a:pt x="40482" y="64070"/>
                  </a:cubicBezTo>
                  <a:lnTo>
                    <a:pt x="40480" y="64070"/>
                  </a:lnTo>
                  <a:cubicBezTo>
                    <a:pt x="37196" y="65386"/>
                    <a:pt x="33690" y="66062"/>
                    <a:pt x="30152" y="66062"/>
                  </a:cubicBezTo>
                  <a:lnTo>
                    <a:pt x="30152" y="66062"/>
                  </a:lnTo>
                  <a:cubicBezTo>
                    <a:pt x="26614" y="66062"/>
                    <a:pt x="23108" y="65386"/>
                    <a:pt x="19824" y="64070"/>
                  </a:cubicBezTo>
                  <a:lnTo>
                    <a:pt x="19822" y="64070"/>
                  </a:lnTo>
                  <a:cubicBezTo>
                    <a:pt x="16533" y="62752"/>
                    <a:pt x="13510" y="60852"/>
                    <a:pt x="10897" y="58459"/>
                  </a:cubicBezTo>
                  <a:lnTo>
                    <a:pt x="10784" y="58355"/>
                  </a:lnTo>
                  <a:cubicBezTo>
                    <a:pt x="8093" y="55891"/>
                    <a:pt x="5843" y="52987"/>
                    <a:pt x="4129" y="49766"/>
                  </a:cubicBezTo>
                  <a:lnTo>
                    <a:pt x="4040" y="49599"/>
                  </a:lnTo>
                  <a:cubicBezTo>
                    <a:pt x="2267" y="46267"/>
                    <a:pt x="1062" y="42662"/>
                    <a:pt x="475" y="38934"/>
                  </a:cubicBezTo>
                  <a:lnTo>
                    <a:pt x="446" y="38747"/>
                  </a:lnTo>
                  <a:cubicBezTo>
                    <a:pt x="-151" y="34960"/>
                    <a:pt x="-148" y="31103"/>
                    <a:pt x="454" y="27316"/>
                  </a:cubicBezTo>
                  <a:lnTo>
                    <a:pt x="460" y="27278"/>
                  </a:lnTo>
                  <a:cubicBezTo>
                    <a:pt x="1057" y="23519"/>
                    <a:pt x="2267" y="19883"/>
                    <a:pt x="4040" y="16516"/>
                  </a:cubicBezTo>
                  <a:lnTo>
                    <a:pt x="4150" y="16307"/>
                  </a:lnTo>
                  <a:cubicBezTo>
                    <a:pt x="5850" y="13080"/>
                    <a:pt x="8094" y="10170"/>
                    <a:pt x="10784" y="7707"/>
                  </a:cubicBezTo>
                  <a:lnTo>
                    <a:pt x="10897" y="7603"/>
                  </a:lnTo>
                  <a:cubicBezTo>
                    <a:pt x="13510" y="5211"/>
                    <a:pt x="16533" y="3310"/>
                    <a:pt x="19822" y="1992"/>
                  </a:cubicBezTo>
                  <a:lnTo>
                    <a:pt x="19824" y="1992"/>
                  </a:lnTo>
                  <a:cubicBezTo>
                    <a:pt x="23108" y="676"/>
                    <a:pt x="26614" y="0"/>
                    <a:pt x="30152" y="0"/>
                  </a:cubicBezTo>
                  <a:lnTo>
                    <a:pt x="30152" y="0"/>
                  </a:lnTo>
                  <a:cubicBezTo>
                    <a:pt x="33690" y="0"/>
                    <a:pt x="37196" y="676"/>
                    <a:pt x="40480" y="1992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99" y="-28525"/>
              <a:ext cx="42816" cy="85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447800" y="1107227"/>
            <a:ext cx="11038257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Resolution Time Prediction</a:t>
            </a:r>
          </a:p>
        </p:txBody>
      </p:sp>
      <p:sp>
        <p:nvSpPr>
          <p:cNvPr id="21" name="Freeform 21"/>
          <p:cNvSpPr/>
          <p:nvPr/>
        </p:nvSpPr>
        <p:spPr>
          <a:xfrm>
            <a:off x="621600" y="1045637"/>
            <a:ext cx="1070332" cy="1121301"/>
          </a:xfrm>
          <a:custGeom>
            <a:avLst/>
            <a:gdLst/>
            <a:ahLst/>
            <a:cxnLst/>
            <a:rect l="l" t="t" r="r" b="b"/>
            <a:pathLst>
              <a:path w="1070332" h="1121301">
                <a:moveTo>
                  <a:pt x="0" y="0"/>
                </a:moveTo>
                <a:lnTo>
                  <a:pt x="1070332" y="0"/>
                </a:lnTo>
                <a:lnTo>
                  <a:pt x="1070332" y="1121300"/>
                </a:lnTo>
                <a:lnTo>
                  <a:pt x="0" y="1121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510766" y="2810046"/>
            <a:ext cx="312616" cy="2333454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3503679" y="7200180"/>
            <a:ext cx="328476" cy="2451839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952732" y="7229499"/>
            <a:ext cx="166818" cy="1608606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1155514" y="8280338"/>
            <a:ext cx="1747125" cy="240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1"/>
              </a:lnSpc>
              <a:spcBef>
                <a:spcPct val="0"/>
              </a:spcBef>
            </a:pPr>
            <a:r>
              <a:rPr lang="en-US" sz="1436" dirty="0">
                <a:solidFill>
                  <a:srgbClr val="004AA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Send to </a:t>
            </a:r>
            <a:r>
              <a:rPr lang="en-US" sz="1436" dirty="0" err="1">
                <a:solidFill>
                  <a:srgbClr val="004AA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Resolutors</a:t>
            </a:r>
            <a:endParaRPr lang="en-US" sz="1436" dirty="0">
              <a:solidFill>
                <a:srgbClr val="004AAD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74316" y="3106393"/>
            <a:ext cx="9195545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This module estimates the number of days required to resolve each grievance.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74316" y="4729453"/>
            <a:ext cx="9484422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The model uses grievance text along with contextual features such as org_code, sex, state, and received month.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74316" y="6209638"/>
            <a:ext cx="9794716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Multiple regression models were tested, and the final </a:t>
            </a:r>
            <a:r>
              <a:rPr lang="en-US" sz="2100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XGBoost</a:t>
            </a:r>
            <a:r>
              <a:rPr lang="en-US" sz="2100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 model performed the best on the cleaned dataset.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5400000">
            <a:off x="12045546" y="7847510"/>
            <a:ext cx="234065" cy="1747125"/>
          </a:xfrm>
          <a:prstGeom prst="rect">
            <a:avLst/>
          </a:prstGeom>
        </p:spPr>
      </p:pic>
      <p:grpSp>
        <p:nvGrpSpPr>
          <p:cNvPr id="30" name="Group 30"/>
          <p:cNvGrpSpPr/>
          <p:nvPr/>
        </p:nvGrpSpPr>
        <p:grpSpPr>
          <a:xfrm>
            <a:off x="11804723" y="5056052"/>
            <a:ext cx="4054865" cy="2144128"/>
            <a:chOff x="0" y="0"/>
            <a:chExt cx="1387997" cy="7339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87997" cy="733944"/>
            </a:xfrm>
            <a:custGeom>
              <a:avLst/>
              <a:gdLst/>
              <a:ahLst/>
              <a:cxnLst/>
              <a:rect l="l" t="t" r="r" b="b"/>
              <a:pathLst>
                <a:path w="1387997" h="733944">
                  <a:moveTo>
                    <a:pt x="0" y="0"/>
                  </a:moveTo>
                  <a:lnTo>
                    <a:pt x="1387997" y="0"/>
                  </a:lnTo>
                  <a:lnTo>
                    <a:pt x="1387997" y="733944"/>
                  </a:lnTo>
                  <a:lnTo>
                    <a:pt x="0" y="733944"/>
                  </a:lnTo>
                  <a:close/>
                </a:path>
              </a:pathLst>
            </a:custGeom>
            <a:gradFill rotWithShape="1">
              <a:gsLst>
                <a:gs pos="0">
                  <a:srgbClr val="FFF2CC">
                    <a:alpha val="100000"/>
                  </a:srgbClr>
                </a:gs>
                <a:gs pos="100000">
                  <a:srgbClr val="FFD966">
                    <a:alpha val="100000"/>
                  </a:srgbClr>
                </a:gs>
              </a:gsLst>
              <a:lin ang="5400000"/>
            </a:gradFill>
            <a:ln w="381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387997" cy="7720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2016376" y="5190463"/>
            <a:ext cx="3631557" cy="38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9"/>
              </a:lnSpc>
              <a:spcBef>
                <a:spcPct val="0"/>
              </a:spcBef>
            </a:pPr>
            <a:r>
              <a:rPr lang="en-US" sz="2349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Resolution Time Predict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227274" y="5728158"/>
            <a:ext cx="3354569" cy="1120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4"/>
              </a:lnSpc>
              <a:spcBef>
                <a:spcPct val="0"/>
              </a:spcBef>
            </a:pPr>
            <a:r>
              <a:rPr lang="en-US" sz="1638">
                <a:solidFill>
                  <a:srgbClr val="1F1F1F"/>
                </a:solidFill>
                <a:latin typeface="Merriweather"/>
                <a:ea typeface="Merriweather"/>
                <a:cs typeface="Merriweather"/>
                <a:sym typeface="Merriweather"/>
              </a:rPr>
              <a:t>TF-IDF (n grams) , Contextual Metadata (org code, state, gender, and time attributes), XGBoost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7536209" y="7641479"/>
            <a:ext cx="2034361" cy="1995883"/>
            <a:chOff x="0" y="0"/>
            <a:chExt cx="1105281" cy="108436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105281" cy="1084368"/>
            </a:xfrm>
            <a:custGeom>
              <a:avLst/>
              <a:gdLst/>
              <a:ahLst/>
              <a:cxnLst/>
              <a:rect l="l" t="t" r="r" b="b"/>
              <a:pathLst>
                <a:path w="1105281" h="1084368">
                  <a:moveTo>
                    <a:pt x="1105281" y="186473"/>
                  </a:moveTo>
                  <a:lnTo>
                    <a:pt x="1105281" y="897895"/>
                  </a:lnTo>
                  <a:cubicBezTo>
                    <a:pt x="1105281" y="1000881"/>
                    <a:pt x="1021794" y="1084368"/>
                    <a:pt x="918808" y="1084368"/>
                  </a:cubicBezTo>
                  <a:lnTo>
                    <a:pt x="186473" y="1084368"/>
                  </a:lnTo>
                  <a:cubicBezTo>
                    <a:pt x="83487" y="1084368"/>
                    <a:pt x="0" y="1000881"/>
                    <a:pt x="0" y="897895"/>
                  </a:cubicBezTo>
                  <a:lnTo>
                    <a:pt x="0" y="186473"/>
                  </a:lnTo>
                  <a:cubicBezTo>
                    <a:pt x="0" y="83487"/>
                    <a:pt x="83487" y="0"/>
                    <a:pt x="186473" y="0"/>
                  </a:cubicBezTo>
                  <a:lnTo>
                    <a:pt x="918808" y="0"/>
                  </a:lnTo>
                  <a:cubicBezTo>
                    <a:pt x="1021794" y="0"/>
                    <a:pt x="1105281" y="83487"/>
                    <a:pt x="1105281" y="186473"/>
                  </a:cubicBezTo>
                  <a:close/>
                </a:path>
              </a:pathLst>
            </a:custGeom>
            <a:gradFill rotWithShape="1">
              <a:gsLst>
                <a:gs pos="0">
                  <a:srgbClr val="EBFAFF">
                    <a:alpha val="50000"/>
                  </a:srgbClr>
                </a:gs>
                <a:gs pos="100000">
                  <a:srgbClr val="87CEFB">
                    <a:alpha val="50000"/>
                  </a:srgbClr>
                </a:gs>
              </a:gsLst>
              <a:lin ang="2700000"/>
            </a:gradFill>
            <a:ln w="38100" cap="rnd">
              <a:solidFill>
                <a:srgbClr val="4A90E2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105281" cy="1122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7536209" y="7886913"/>
            <a:ext cx="1845158" cy="1077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5"/>
              </a:lnSpc>
            </a:pPr>
            <a:r>
              <a:rPr lang="en-US" sz="2317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 R2 Score </a:t>
            </a:r>
          </a:p>
          <a:p>
            <a:pPr algn="ctr">
              <a:lnSpc>
                <a:spcPts val="5425"/>
              </a:lnSpc>
            </a:pPr>
            <a:r>
              <a:rPr lang="en-US" sz="3617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0.409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953233" y="7645371"/>
            <a:ext cx="2034361" cy="1991991"/>
            <a:chOff x="0" y="0"/>
            <a:chExt cx="1105281" cy="108225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105281" cy="1082253"/>
            </a:xfrm>
            <a:custGeom>
              <a:avLst/>
              <a:gdLst/>
              <a:ahLst/>
              <a:cxnLst/>
              <a:rect l="l" t="t" r="r" b="b"/>
              <a:pathLst>
                <a:path w="1105281" h="1082253">
                  <a:moveTo>
                    <a:pt x="1105281" y="186473"/>
                  </a:moveTo>
                  <a:lnTo>
                    <a:pt x="1105281" y="895780"/>
                  </a:lnTo>
                  <a:cubicBezTo>
                    <a:pt x="1105281" y="998766"/>
                    <a:pt x="1021794" y="1082253"/>
                    <a:pt x="918808" y="1082253"/>
                  </a:cubicBezTo>
                  <a:lnTo>
                    <a:pt x="186473" y="1082253"/>
                  </a:lnTo>
                  <a:cubicBezTo>
                    <a:pt x="83487" y="1082253"/>
                    <a:pt x="0" y="998766"/>
                    <a:pt x="0" y="895780"/>
                  </a:cubicBezTo>
                  <a:lnTo>
                    <a:pt x="0" y="186473"/>
                  </a:lnTo>
                  <a:cubicBezTo>
                    <a:pt x="0" y="83487"/>
                    <a:pt x="83487" y="0"/>
                    <a:pt x="186473" y="0"/>
                  </a:cubicBezTo>
                  <a:lnTo>
                    <a:pt x="918808" y="0"/>
                  </a:lnTo>
                  <a:cubicBezTo>
                    <a:pt x="1021794" y="0"/>
                    <a:pt x="1105281" y="83487"/>
                    <a:pt x="1105281" y="186473"/>
                  </a:cubicBezTo>
                  <a:close/>
                </a:path>
              </a:pathLst>
            </a:custGeom>
            <a:gradFill rotWithShape="1">
              <a:gsLst>
                <a:gs pos="0">
                  <a:srgbClr val="EBFAFF">
                    <a:alpha val="50000"/>
                  </a:srgbClr>
                </a:gs>
                <a:gs pos="100000">
                  <a:srgbClr val="87CEFB">
                    <a:alpha val="50000"/>
                  </a:srgbClr>
                </a:gs>
              </a:gsLst>
              <a:lin ang="2700000"/>
            </a:gradFill>
            <a:ln w="38100" cap="rnd">
              <a:solidFill>
                <a:srgbClr val="4A90E2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1105281" cy="11203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2018500" y="7877388"/>
            <a:ext cx="1845158" cy="1566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5"/>
              </a:lnSpc>
            </a:pPr>
            <a:r>
              <a:rPr lang="en-US" sz="2617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MAE</a:t>
            </a:r>
          </a:p>
          <a:p>
            <a:pPr algn="ctr">
              <a:lnSpc>
                <a:spcPts val="625"/>
              </a:lnSpc>
            </a:pPr>
            <a:endParaRPr lang="en-US" sz="2617" b="1">
              <a:solidFill>
                <a:srgbClr val="1F1F1F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  <a:p>
            <a:pPr algn="ctr">
              <a:lnSpc>
                <a:spcPts val="4014"/>
              </a:lnSpc>
            </a:pPr>
            <a:r>
              <a:rPr lang="en-US" sz="3617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7.61</a:t>
            </a:r>
          </a:p>
          <a:p>
            <a:pPr algn="ctr">
              <a:lnSpc>
                <a:spcPts val="1109"/>
              </a:lnSpc>
            </a:pPr>
            <a:endParaRPr lang="en-US" sz="3617" b="1">
              <a:solidFill>
                <a:srgbClr val="1F1F1F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  <a:p>
            <a:pPr algn="ctr">
              <a:lnSpc>
                <a:spcPts val="2460"/>
              </a:lnSpc>
            </a:pPr>
            <a:r>
              <a:rPr lang="en-US" sz="2217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(days)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4744721" y="7645371"/>
            <a:ext cx="2034361" cy="1991991"/>
            <a:chOff x="0" y="0"/>
            <a:chExt cx="1105281" cy="108225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105281" cy="1082253"/>
            </a:xfrm>
            <a:custGeom>
              <a:avLst/>
              <a:gdLst/>
              <a:ahLst/>
              <a:cxnLst/>
              <a:rect l="l" t="t" r="r" b="b"/>
              <a:pathLst>
                <a:path w="1105281" h="1082253">
                  <a:moveTo>
                    <a:pt x="1105281" y="186473"/>
                  </a:moveTo>
                  <a:lnTo>
                    <a:pt x="1105281" y="895780"/>
                  </a:lnTo>
                  <a:cubicBezTo>
                    <a:pt x="1105281" y="998766"/>
                    <a:pt x="1021794" y="1082253"/>
                    <a:pt x="918808" y="1082253"/>
                  </a:cubicBezTo>
                  <a:lnTo>
                    <a:pt x="186473" y="1082253"/>
                  </a:lnTo>
                  <a:cubicBezTo>
                    <a:pt x="83487" y="1082253"/>
                    <a:pt x="0" y="998766"/>
                    <a:pt x="0" y="895780"/>
                  </a:cubicBezTo>
                  <a:lnTo>
                    <a:pt x="0" y="186473"/>
                  </a:lnTo>
                  <a:cubicBezTo>
                    <a:pt x="0" y="83487"/>
                    <a:pt x="83487" y="0"/>
                    <a:pt x="186473" y="0"/>
                  </a:cubicBezTo>
                  <a:lnTo>
                    <a:pt x="918808" y="0"/>
                  </a:lnTo>
                  <a:cubicBezTo>
                    <a:pt x="1021794" y="0"/>
                    <a:pt x="1105281" y="83487"/>
                    <a:pt x="1105281" y="186473"/>
                  </a:cubicBezTo>
                  <a:close/>
                </a:path>
              </a:pathLst>
            </a:custGeom>
            <a:gradFill rotWithShape="1">
              <a:gsLst>
                <a:gs pos="0">
                  <a:srgbClr val="EBFAFF">
                    <a:alpha val="50000"/>
                  </a:srgbClr>
                </a:gs>
                <a:gs pos="100000">
                  <a:srgbClr val="87CEFB">
                    <a:alpha val="50000"/>
                  </a:srgbClr>
                </a:gs>
              </a:gsLst>
              <a:lin ang="2700000"/>
            </a:gradFill>
            <a:ln w="38100" cap="rnd">
              <a:solidFill>
                <a:srgbClr val="4A90E2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1105281" cy="11203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4809988" y="7877388"/>
            <a:ext cx="1845158" cy="1544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5"/>
              </a:lnSpc>
            </a:pPr>
            <a:r>
              <a:rPr lang="en-US" sz="2617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RMSE</a:t>
            </a:r>
          </a:p>
          <a:p>
            <a:pPr algn="ctr">
              <a:lnSpc>
                <a:spcPts val="625"/>
              </a:lnSpc>
            </a:pPr>
            <a:endParaRPr lang="en-US" sz="2617" b="1">
              <a:solidFill>
                <a:srgbClr val="1F1F1F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  <a:p>
            <a:pPr algn="ctr">
              <a:lnSpc>
                <a:spcPts val="4014"/>
              </a:lnSpc>
            </a:pPr>
            <a:r>
              <a:rPr lang="en-US" sz="3617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10.53 </a:t>
            </a:r>
          </a:p>
          <a:p>
            <a:pPr algn="ctr">
              <a:lnSpc>
                <a:spcPts val="906"/>
              </a:lnSpc>
            </a:pPr>
            <a:endParaRPr lang="en-US" sz="3617" b="1">
              <a:solidFill>
                <a:srgbClr val="1F1F1F"/>
              </a:solidFill>
              <a:latin typeface="Merriweather Bold"/>
              <a:ea typeface="Merriweather Bold"/>
              <a:cs typeface="Merriweather Bold"/>
              <a:sym typeface="Merriweather Bold"/>
            </a:endParaRPr>
          </a:p>
          <a:p>
            <a:pPr algn="ctr">
              <a:lnSpc>
                <a:spcPts val="2460"/>
              </a:lnSpc>
            </a:pPr>
            <a:r>
              <a:rPr lang="en-US" sz="2217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(days)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92000" y="5113648"/>
            <a:ext cx="4030932" cy="1959651"/>
            <a:chOff x="0" y="0"/>
            <a:chExt cx="1387997" cy="67477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" name="Freeform 3"/>
            <p:cNvSpPr/>
            <p:nvPr/>
          </p:nvSpPr>
          <p:spPr>
            <a:xfrm>
              <a:off x="0" y="0"/>
              <a:ext cx="1387997" cy="674779"/>
            </a:xfrm>
            <a:custGeom>
              <a:avLst/>
              <a:gdLst/>
              <a:ahLst/>
              <a:cxnLst/>
              <a:rect l="l" t="t" r="r" b="b"/>
              <a:pathLst>
                <a:path w="1387997" h="674779">
                  <a:moveTo>
                    <a:pt x="0" y="0"/>
                  </a:moveTo>
                  <a:lnTo>
                    <a:pt x="1387997" y="0"/>
                  </a:lnTo>
                  <a:lnTo>
                    <a:pt x="1387997" y="674779"/>
                  </a:lnTo>
                  <a:lnTo>
                    <a:pt x="0" y="674779"/>
                  </a:lnTo>
                  <a:close/>
                </a:path>
              </a:pathLst>
            </a:custGeom>
            <a:gradFill rotWithShape="1">
              <a:gsLst>
                <a:gs pos="0">
                  <a:srgbClr val="FFF2CC">
                    <a:alpha val="100000"/>
                  </a:srgbClr>
                </a:gs>
                <a:gs pos="100000">
                  <a:srgbClr val="FFD966">
                    <a:alpha val="100000"/>
                  </a:srgbClr>
                </a:gs>
              </a:gsLst>
              <a:lin ang="5400000"/>
            </a:gradFill>
            <a:ln w="38100" cap="sq">
              <a:solidFill>
                <a:srgbClr val="FFDE59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87997" cy="712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992830" y="3517163"/>
            <a:ext cx="3707390" cy="397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7707" lvl="1" indent="-123854" algn="l">
              <a:lnSpc>
                <a:spcPts val="1606"/>
              </a:lnSpc>
              <a:buFont typeface="Arial"/>
              <a:buChar char="•"/>
            </a:pPr>
            <a:r>
              <a:rPr lang="en-US" sz="1147" b="1" dirty="0" err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feedback_text</a:t>
            </a:r>
            <a:r>
              <a:rPr lang="en-US" sz="1147" dirty="0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lang="en-US" sz="1147" dirty="0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= “Complaint closed without </a:t>
            </a:r>
            <a:r>
              <a:rPr lang="en-US" sz="1147" dirty="0" err="1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resolution.he</a:t>
            </a:r>
            <a:r>
              <a:rPr lang="en-US" sz="1147" dirty="0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did not get his amount yet”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689302" y="5277057"/>
            <a:ext cx="3190818" cy="397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2"/>
              </a:lnSpc>
              <a:spcBef>
                <a:spcPct val="0"/>
              </a:spcBef>
            </a:pPr>
            <a:r>
              <a:rPr lang="en-US" sz="2294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Sentiment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722898" y="5822985"/>
            <a:ext cx="3123626" cy="899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1"/>
              </a:lnSpc>
              <a:spcBef>
                <a:spcPct val="0"/>
              </a:spcBef>
            </a:pPr>
            <a:r>
              <a:rPr lang="en-US" sz="1729">
                <a:solidFill>
                  <a:srgbClr val="1F1F1F"/>
                </a:solidFill>
                <a:latin typeface="Merriweather"/>
                <a:ea typeface="Merriweather"/>
                <a:cs typeface="Merriweather"/>
                <a:sym typeface="Merriweather"/>
              </a:rPr>
              <a:t>TF-IDF feedback text, Linear Support Vector Machines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026426" y="7627109"/>
            <a:ext cx="3707390" cy="601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7707" lvl="1" indent="-123854" algn="l">
              <a:lnSpc>
                <a:spcPts val="1606"/>
              </a:lnSpc>
              <a:buFont typeface="Arial"/>
              <a:buChar char="•"/>
            </a:pPr>
            <a:r>
              <a:rPr lang="en-US" sz="1147" b="1" dirty="0" err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feedback_text</a:t>
            </a:r>
            <a:r>
              <a:rPr lang="en-US" sz="1147" dirty="0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lang="en-US" sz="1147" dirty="0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= “Complaint closed without </a:t>
            </a:r>
            <a:r>
              <a:rPr lang="en-US" sz="1147" dirty="0" err="1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resolution.he</a:t>
            </a:r>
            <a:r>
              <a:rPr lang="en-US" sz="1147" dirty="0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did not get his amount yet”</a:t>
            </a:r>
          </a:p>
          <a:p>
            <a:pPr marL="247707" lvl="1" indent="-123854" algn="l">
              <a:lnSpc>
                <a:spcPts val="1606"/>
              </a:lnSpc>
              <a:buFont typeface="Arial"/>
              <a:buChar char="•"/>
            </a:pPr>
            <a:r>
              <a:rPr lang="en-US" sz="1147" b="1" dirty="0" err="1">
                <a:solidFill>
                  <a:srgbClr val="004AAD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predict_lable</a:t>
            </a:r>
            <a:r>
              <a:rPr lang="en-US" sz="1147" dirty="0">
                <a:solidFill>
                  <a:srgbClr val="4A90E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= ‘unsatisfied’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886799" y="1721187"/>
            <a:ext cx="4530045" cy="136733"/>
            <a:chOff x="0" y="0"/>
            <a:chExt cx="1193098" cy="360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93098" cy="36012"/>
            </a:xfrm>
            <a:custGeom>
              <a:avLst/>
              <a:gdLst/>
              <a:ahLst/>
              <a:cxnLst/>
              <a:rect l="l" t="t" r="r" b="b"/>
              <a:pathLst>
                <a:path w="1193098" h="36012">
                  <a:moveTo>
                    <a:pt x="0" y="0"/>
                  </a:moveTo>
                  <a:lnTo>
                    <a:pt x="1193098" y="0"/>
                  </a:lnTo>
                  <a:lnTo>
                    <a:pt x="1193098" y="36012"/>
                  </a:lnTo>
                  <a:lnTo>
                    <a:pt x="0" y="3601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93098" cy="74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068101" y="1831897"/>
            <a:ext cx="5809360" cy="111203"/>
            <a:chOff x="0" y="0"/>
            <a:chExt cx="1530037" cy="292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30037" cy="29288"/>
            </a:xfrm>
            <a:custGeom>
              <a:avLst/>
              <a:gdLst/>
              <a:ahLst/>
              <a:cxnLst/>
              <a:rect l="l" t="t" r="r" b="b"/>
              <a:pathLst>
                <a:path w="1530037" h="29288">
                  <a:moveTo>
                    <a:pt x="0" y="0"/>
                  </a:moveTo>
                  <a:lnTo>
                    <a:pt x="1530037" y="0"/>
                  </a:lnTo>
                  <a:lnTo>
                    <a:pt x="1530037" y="29288"/>
                  </a:lnTo>
                  <a:lnTo>
                    <a:pt x="0" y="29288"/>
                  </a:lnTo>
                  <a:close/>
                </a:path>
              </a:pathLst>
            </a:custGeom>
            <a:solidFill>
              <a:srgbClr val="F4C54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530037" cy="67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908921" y="971219"/>
            <a:ext cx="761947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Sentiment Analysis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235746" y="1831897"/>
            <a:ext cx="1070603" cy="111203"/>
            <a:chOff x="0" y="0"/>
            <a:chExt cx="281969" cy="2928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81969" cy="29288"/>
            </a:xfrm>
            <a:custGeom>
              <a:avLst/>
              <a:gdLst/>
              <a:ahLst/>
              <a:cxnLst/>
              <a:rect l="l" t="t" r="r" b="b"/>
              <a:pathLst>
                <a:path w="281969" h="29288">
                  <a:moveTo>
                    <a:pt x="0" y="0"/>
                  </a:moveTo>
                  <a:lnTo>
                    <a:pt x="281969" y="0"/>
                  </a:lnTo>
                  <a:lnTo>
                    <a:pt x="281969" y="29288"/>
                  </a:lnTo>
                  <a:lnTo>
                    <a:pt x="0" y="29288"/>
                  </a:lnTo>
                  <a:close/>
                </a:path>
              </a:pathLst>
            </a:custGeom>
            <a:solidFill>
              <a:srgbClr val="F4C54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81969" cy="67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28883" y="3235449"/>
            <a:ext cx="199634" cy="215470"/>
            <a:chOff x="0" y="0"/>
            <a:chExt cx="61214" cy="66167"/>
          </a:xfrm>
        </p:grpSpPr>
        <p:sp>
          <p:nvSpPr>
            <p:cNvPr id="20" name="Freeform 20"/>
            <p:cNvSpPr/>
            <p:nvPr/>
          </p:nvSpPr>
          <p:spPr>
            <a:xfrm>
              <a:off x="455" y="0"/>
              <a:ext cx="60304" cy="66062"/>
            </a:xfrm>
            <a:custGeom>
              <a:avLst/>
              <a:gdLst/>
              <a:ahLst/>
              <a:cxnLst/>
              <a:rect l="l" t="t" r="r" b="b"/>
              <a:pathLst>
                <a:path w="60304" h="66062">
                  <a:moveTo>
                    <a:pt x="40480" y="1992"/>
                  </a:moveTo>
                  <a:lnTo>
                    <a:pt x="40482" y="1992"/>
                  </a:lnTo>
                  <a:cubicBezTo>
                    <a:pt x="43771" y="3310"/>
                    <a:pt x="46794" y="5211"/>
                    <a:pt x="49407" y="7603"/>
                  </a:cubicBezTo>
                  <a:lnTo>
                    <a:pt x="49520" y="7707"/>
                  </a:lnTo>
                  <a:cubicBezTo>
                    <a:pt x="52210" y="10170"/>
                    <a:pt x="54454" y="13080"/>
                    <a:pt x="56154" y="16307"/>
                  </a:cubicBezTo>
                  <a:lnTo>
                    <a:pt x="56264" y="16516"/>
                  </a:lnTo>
                  <a:cubicBezTo>
                    <a:pt x="58037" y="19883"/>
                    <a:pt x="59247" y="23519"/>
                    <a:pt x="59844" y="27278"/>
                  </a:cubicBezTo>
                  <a:lnTo>
                    <a:pt x="59850" y="27316"/>
                  </a:lnTo>
                  <a:cubicBezTo>
                    <a:pt x="60452" y="31103"/>
                    <a:pt x="60455" y="34960"/>
                    <a:pt x="59858" y="38747"/>
                  </a:cubicBezTo>
                  <a:lnTo>
                    <a:pt x="59829" y="38934"/>
                  </a:lnTo>
                  <a:cubicBezTo>
                    <a:pt x="59242" y="42662"/>
                    <a:pt x="58037" y="46267"/>
                    <a:pt x="56264" y="49599"/>
                  </a:cubicBezTo>
                  <a:lnTo>
                    <a:pt x="56175" y="49766"/>
                  </a:lnTo>
                  <a:cubicBezTo>
                    <a:pt x="54461" y="52987"/>
                    <a:pt x="52211" y="55891"/>
                    <a:pt x="49520" y="58355"/>
                  </a:cubicBezTo>
                  <a:lnTo>
                    <a:pt x="49407" y="58459"/>
                  </a:lnTo>
                  <a:cubicBezTo>
                    <a:pt x="46794" y="60852"/>
                    <a:pt x="43771" y="62752"/>
                    <a:pt x="40482" y="64070"/>
                  </a:cubicBezTo>
                  <a:lnTo>
                    <a:pt x="40480" y="64070"/>
                  </a:lnTo>
                  <a:cubicBezTo>
                    <a:pt x="37196" y="65386"/>
                    <a:pt x="33690" y="66062"/>
                    <a:pt x="30152" y="66062"/>
                  </a:cubicBezTo>
                  <a:lnTo>
                    <a:pt x="30152" y="66062"/>
                  </a:lnTo>
                  <a:cubicBezTo>
                    <a:pt x="26614" y="66062"/>
                    <a:pt x="23108" y="65386"/>
                    <a:pt x="19824" y="64070"/>
                  </a:cubicBezTo>
                  <a:lnTo>
                    <a:pt x="19822" y="64070"/>
                  </a:lnTo>
                  <a:cubicBezTo>
                    <a:pt x="16533" y="62752"/>
                    <a:pt x="13510" y="60852"/>
                    <a:pt x="10897" y="58459"/>
                  </a:cubicBezTo>
                  <a:lnTo>
                    <a:pt x="10784" y="58355"/>
                  </a:lnTo>
                  <a:cubicBezTo>
                    <a:pt x="8093" y="55891"/>
                    <a:pt x="5843" y="52987"/>
                    <a:pt x="4129" y="49766"/>
                  </a:cubicBezTo>
                  <a:lnTo>
                    <a:pt x="4040" y="49599"/>
                  </a:lnTo>
                  <a:cubicBezTo>
                    <a:pt x="2267" y="46267"/>
                    <a:pt x="1062" y="42662"/>
                    <a:pt x="475" y="38934"/>
                  </a:cubicBezTo>
                  <a:lnTo>
                    <a:pt x="446" y="38747"/>
                  </a:lnTo>
                  <a:cubicBezTo>
                    <a:pt x="-151" y="34960"/>
                    <a:pt x="-148" y="31103"/>
                    <a:pt x="454" y="27316"/>
                  </a:cubicBezTo>
                  <a:lnTo>
                    <a:pt x="460" y="27278"/>
                  </a:lnTo>
                  <a:cubicBezTo>
                    <a:pt x="1057" y="23519"/>
                    <a:pt x="2267" y="19883"/>
                    <a:pt x="4040" y="16516"/>
                  </a:cubicBezTo>
                  <a:lnTo>
                    <a:pt x="4150" y="16307"/>
                  </a:lnTo>
                  <a:cubicBezTo>
                    <a:pt x="5850" y="13080"/>
                    <a:pt x="8094" y="10170"/>
                    <a:pt x="10784" y="7707"/>
                  </a:cubicBezTo>
                  <a:lnTo>
                    <a:pt x="10897" y="7603"/>
                  </a:lnTo>
                  <a:cubicBezTo>
                    <a:pt x="13510" y="5211"/>
                    <a:pt x="16533" y="3310"/>
                    <a:pt x="19822" y="1992"/>
                  </a:cubicBezTo>
                  <a:lnTo>
                    <a:pt x="19824" y="1992"/>
                  </a:lnTo>
                  <a:cubicBezTo>
                    <a:pt x="23108" y="676"/>
                    <a:pt x="26614" y="0"/>
                    <a:pt x="30152" y="0"/>
                  </a:cubicBezTo>
                  <a:lnTo>
                    <a:pt x="30152" y="0"/>
                  </a:lnTo>
                  <a:cubicBezTo>
                    <a:pt x="33690" y="0"/>
                    <a:pt x="37196" y="676"/>
                    <a:pt x="40480" y="1992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99" y="-28525"/>
              <a:ext cx="42816" cy="85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28883" y="4906864"/>
            <a:ext cx="199634" cy="215470"/>
            <a:chOff x="0" y="0"/>
            <a:chExt cx="61214" cy="66167"/>
          </a:xfrm>
        </p:grpSpPr>
        <p:sp>
          <p:nvSpPr>
            <p:cNvPr id="23" name="Freeform 23"/>
            <p:cNvSpPr/>
            <p:nvPr/>
          </p:nvSpPr>
          <p:spPr>
            <a:xfrm>
              <a:off x="455" y="0"/>
              <a:ext cx="60304" cy="66062"/>
            </a:xfrm>
            <a:custGeom>
              <a:avLst/>
              <a:gdLst/>
              <a:ahLst/>
              <a:cxnLst/>
              <a:rect l="l" t="t" r="r" b="b"/>
              <a:pathLst>
                <a:path w="60304" h="66062">
                  <a:moveTo>
                    <a:pt x="40480" y="1992"/>
                  </a:moveTo>
                  <a:lnTo>
                    <a:pt x="40482" y="1992"/>
                  </a:lnTo>
                  <a:cubicBezTo>
                    <a:pt x="43771" y="3310"/>
                    <a:pt x="46794" y="5211"/>
                    <a:pt x="49407" y="7603"/>
                  </a:cubicBezTo>
                  <a:lnTo>
                    <a:pt x="49520" y="7707"/>
                  </a:lnTo>
                  <a:cubicBezTo>
                    <a:pt x="52210" y="10170"/>
                    <a:pt x="54454" y="13080"/>
                    <a:pt x="56154" y="16307"/>
                  </a:cubicBezTo>
                  <a:lnTo>
                    <a:pt x="56264" y="16516"/>
                  </a:lnTo>
                  <a:cubicBezTo>
                    <a:pt x="58037" y="19883"/>
                    <a:pt x="59247" y="23519"/>
                    <a:pt x="59844" y="27278"/>
                  </a:cubicBezTo>
                  <a:lnTo>
                    <a:pt x="59850" y="27316"/>
                  </a:lnTo>
                  <a:cubicBezTo>
                    <a:pt x="60452" y="31103"/>
                    <a:pt x="60455" y="34960"/>
                    <a:pt x="59858" y="38747"/>
                  </a:cubicBezTo>
                  <a:lnTo>
                    <a:pt x="59829" y="38934"/>
                  </a:lnTo>
                  <a:cubicBezTo>
                    <a:pt x="59242" y="42662"/>
                    <a:pt x="58037" y="46267"/>
                    <a:pt x="56264" y="49599"/>
                  </a:cubicBezTo>
                  <a:lnTo>
                    <a:pt x="56175" y="49766"/>
                  </a:lnTo>
                  <a:cubicBezTo>
                    <a:pt x="54461" y="52987"/>
                    <a:pt x="52211" y="55891"/>
                    <a:pt x="49520" y="58355"/>
                  </a:cubicBezTo>
                  <a:lnTo>
                    <a:pt x="49407" y="58459"/>
                  </a:lnTo>
                  <a:cubicBezTo>
                    <a:pt x="46794" y="60852"/>
                    <a:pt x="43771" y="62752"/>
                    <a:pt x="40482" y="64070"/>
                  </a:cubicBezTo>
                  <a:lnTo>
                    <a:pt x="40480" y="64070"/>
                  </a:lnTo>
                  <a:cubicBezTo>
                    <a:pt x="37196" y="65386"/>
                    <a:pt x="33690" y="66062"/>
                    <a:pt x="30152" y="66062"/>
                  </a:cubicBezTo>
                  <a:lnTo>
                    <a:pt x="30152" y="66062"/>
                  </a:lnTo>
                  <a:cubicBezTo>
                    <a:pt x="26614" y="66062"/>
                    <a:pt x="23108" y="65386"/>
                    <a:pt x="19824" y="64070"/>
                  </a:cubicBezTo>
                  <a:lnTo>
                    <a:pt x="19822" y="64070"/>
                  </a:lnTo>
                  <a:cubicBezTo>
                    <a:pt x="16533" y="62752"/>
                    <a:pt x="13510" y="60852"/>
                    <a:pt x="10897" y="58459"/>
                  </a:cubicBezTo>
                  <a:lnTo>
                    <a:pt x="10784" y="58355"/>
                  </a:lnTo>
                  <a:cubicBezTo>
                    <a:pt x="8093" y="55891"/>
                    <a:pt x="5843" y="52987"/>
                    <a:pt x="4129" y="49766"/>
                  </a:cubicBezTo>
                  <a:lnTo>
                    <a:pt x="4040" y="49599"/>
                  </a:lnTo>
                  <a:cubicBezTo>
                    <a:pt x="2267" y="46267"/>
                    <a:pt x="1062" y="42662"/>
                    <a:pt x="475" y="38934"/>
                  </a:cubicBezTo>
                  <a:lnTo>
                    <a:pt x="446" y="38747"/>
                  </a:lnTo>
                  <a:cubicBezTo>
                    <a:pt x="-151" y="34960"/>
                    <a:pt x="-148" y="31103"/>
                    <a:pt x="454" y="27316"/>
                  </a:cubicBezTo>
                  <a:lnTo>
                    <a:pt x="460" y="27278"/>
                  </a:lnTo>
                  <a:cubicBezTo>
                    <a:pt x="1057" y="23519"/>
                    <a:pt x="2267" y="19883"/>
                    <a:pt x="4040" y="16516"/>
                  </a:cubicBezTo>
                  <a:lnTo>
                    <a:pt x="4150" y="16307"/>
                  </a:lnTo>
                  <a:cubicBezTo>
                    <a:pt x="5850" y="13080"/>
                    <a:pt x="8094" y="10170"/>
                    <a:pt x="10784" y="7707"/>
                  </a:cubicBezTo>
                  <a:lnTo>
                    <a:pt x="10897" y="7603"/>
                  </a:lnTo>
                  <a:cubicBezTo>
                    <a:pt x="13510" y="5211"/>
                    <a:pt x="16533" y="3310"/>
                    <a:pt x="19822" y="1992"/>
                  </a:cubicBezTo>
                  <a:lnTo>
                    <a:pt x="19824" y="1992"/>
                  </a:lnTo>
                  <a:cubicBezTo>
                    <a:pt x="23108" y="676"/>
                    <a:pt x="26614" y="0"/>
                    <a:pt x="30152" y="0"/>
                  </a:cubicBezTo>
                  <a:lnTo>
                    <a:pt x="30152" y="0"/>
                  </a:lnTo>
                  <a:cubicBezTo>
                    <a:pt x="33690" y="0"/>
                    <a:pt x="37196" y="676"/>
                    <a:pt x="40480" y="1992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199" y="-28525"/>
              <a:ext cx="42816" cy="85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28883" y="6472462"/>
            <a:ext cx="199634" cy="215470"/>
            <a:chOff x="0" y="0"/>
            <a:chExt cx="61214" cy="66167"/>
          </a:xfrm>
        </p:grpSpPr>
        <p:sp>
          <p:nvSpPr>
            <p:cNvPr id="26" name="Freeform 26"/>
            <p:cNvSpPr/>
            <p:nvPr/>
          </p:nvSpPr>
          <p:spPr>
            <a:xfrm>
              <a:off x="455" y="0"/>
              <a:ext cx="60304" cy="66062"/>
            </a:xfrm>
            <a:custGeom>
              <a:avLst/>
              <a:gdLst/>
              <a:ahLst/>
              <a:cxnLst/>
              <a:rect l="l" t="t" r="r" b="b"/>
              <a:pathLst>
                <a:path w="60304" h="66062">
                  <a:moveTo>
                    <a:pt x="40480" y="1992"/>
                  </a:moveTo>
                  <a:lnTo>
                    <a:pt x="40482" y="1992"/>
                  </a:lnTo>
                  <a:cubicBezTo>
                    <a:pt x="43771" y="3310"/>
                    <a:pt x="46794" y="5211"/>
                    <a:pt x="49407" y="7603"/>
                  </a:cubicBezTo>
                  <a:lnTo>
                    <a:pt x="49520" y="7707"/>
                  </a:lnTo>
                  <a:cubicBezTo>
                    <a:pt x="52210" y="10170"/>
                    <a:pt x="54454" y="13080"/>
                    <a:pt x="56154" y="16307"/>
                  </a:cubicBezTo>
                  <a:lnTo>
                    <a:pt x="56264" y="16516"/>
                  </a:lnTo>
                  <a:cubicBezTo>
                    <a:pt x="58037" y="19883"/>
                    <a:pt x="59247" y="23519"/>
                    <a:pt x="59844" y="27278"/>
                  </a:cubicBezTo>
                  <a:lnTo>
                    <a:pt x="59850" y="27316"/>
                  </a:lnTo>
                  <a:cubicBezTo>
                    <a:pt x="60452" y="31103"/>
                    <a:pt x="60455" y="34960"/>
                    <a:pt x="59858" y="38747"/>
                  </a:cubicBezTo>
                  <a:lnTo>
                    <a:pt x="59829" y="38934"/>
                  </a:lnTo>
                  <a:cubicBezTo>
                    <a:pt x="59242" y="42662"/>
                    <a:pt x="58037" y="46267"/>
                    <a:pt x="56264" y="49599"/>
                  </a:cubicBezTo>
                  <a:lnTo>
                    <a:pt x="56175" y="49766"/>
                  </a:lnTo>
                  <a:cubicBezTo>
                    <a:pt x="54461" y="52987"/>
                    <a:pt x="52211" y="55891"/>
                    <a:pt x="49520" y="58355"/>
                  </a:cubicBezTo>
                  <a:lnTo>
                    <a:pt x="49407" y="58459"/>
                  </a:lnTo>
                  <a:cubicBezTo>
                    <a:pt x="46794" y="60852"/>
                    <a:pt x="43771" y="62752"/>
                    <a:pt x="40482" y="64070"/>
                  </a:cubicBezTo>
                  <a:lnTo>
                    <a:pt x="40480" y="64070"/>
                  </a:lnTo>
                  <a:cubicBezTo>
                    <a:pt x="37196" y="65386"/>
                    <a:pt x="33690" y="66062"/>
                    <a:pt x="30152" y="66062"/>
                  </a:cubicBezTo>
                  <a:lnTo>
                    <a:pt x="30152" y="66062"/>
                  </a:lnTo>
                  <a:cubicBezTo>
                    <a:pt x="26614" y="66062"/>
                    <a:pt x="23108" y="65386"/>
                    <a:pt x="19824" y="64070"/>
                  </a:cubicBezTo>
                  <a:lnTo>
                    <a:pt x="19822" y="64070"/>
                  </a:lnTo>
                  <a:cubicBezTo>
                    <a:pt x="16533" y="62752"/>
                    <a:pt x="13510" y="60852"/>
                    <a:pt x="10897" y="58459"/>
                  </a:cubicBezTo>
                  <a:lnTo>
                    <a:pt x="10784" y="58355"/>
                  </a:lnTo>
                  <a:cubicBezTo>
                    <a:pt x="8093" y="55891"/>
                    <a:pt x="5843" y="52987"/>
                    <a:pt x="4129" y="49766"/>
                  </a:cubicBezTo>
                  <a:lnTo>
                    <a:pt x="4040" y="49599"/>
                  </a:lnTo>
                  <a:cubicBezTo>
                    <a:pt x="2267" y="46267"/>
                    <a:pt x="1062" y="42662"/>
                    <a:pt x="475" y="38934"/>
                  </a:cubicBezTo>
                  <a:lnTo>
                    <a:pt x="446" y="38747"/>
                  </a:lnTo>
                  <a:cubicBezTo>
                    <a:pt x="-151" y="34960"/>
                    <a:pt x="-148" y="31103"/>
                    <a:pt x="454" y="27316"/>
                  </a:cubicBezTo>
                  <a:lnTo>
                    <a:pt x="460" y="27278"/>
                  </a:lnTo>
                  <a:cubicBezTo>
                    <a:pt x="1057" y="23519"/>
                    <a:pt x="2267" y="19883"/>
                    <a:pt x="4040" y="16516"/>
                  </a:cubicBezTo>
                  <a:lnTo>
                    <a:pt x="4150" y="16307"/>
                  </a:lnTo>
                  <a:cubicBezTo>
                    <a:pt x="5850" y="13080"/>
                    <a:pt x="8094" y="10170"/>
                    <a:pt x="10784" y="7707"/>
                  </a:cubicBezTo>
                  <a:lnTo>
                    <a:pt x="10897" y="7603"/>
                  </a:lnTo>
                  <a:cubicBezTo>
                    <a:pt x="13510" y="5211"/>
                    <a:pt x="16533" y="3310"/>
                    <a:pt x="19822" y="1992"/>
                  </a:cubicBezTo>
                  <a:lnTo>
                    <a:pt x="19824" y="1992"/>
                  </a:lnTo>
                  <a:cubicBezTo>
                    <a:pt x="23108" y="676"/>
                    <a:pt x="26614" y="0"/>
                    <a:pt x="30152" y="0"/>
                  </a:cubicBezTo>
                  <a:lnTo>
                    <a:pt x="30152" y="0"/>
                  </a:lnTo>
                  <a:cubicBezTo>
                    <a:pt x="33690" y="0"/>
                    <a:pt x="37196" y="676"/>
                    <a:pt x="40480" y="1992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99" y="-28525"/>
              <a:ext cx="42816" cy="85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90459" y="3187824"/>
            <a:ext cx="10945191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This module analyzes grievance feedback to determine user satisfaction levels.The feedback is classified into three categories: </a:t>
            </a:r>
            <a:r>
              <a:rPr lang="en-US" sz="2099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Satisfied, Neutral and Unsatisfied.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74316" y="4859239"/>
            <a:ext cx="8844439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The feedback text is cleaned and converted into features using </a:t>
            </a:r>
            <a:r>
              <a:rPr lang="en-US" sz="2100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TF-IDF vectorization</a:t>
            </a:r>
            <a:r>
              <a:rPr lang="en-US" sz="2100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74316" y="6384205"/>
            <a:ext cx="10203273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Multiple models were evaluated, </a:t>
            </a:r>
            <a:r>
              <a:rPr lang="en-US" sz="2100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Linear SVM model</a:t>
            </a:r>
            <a:r>
              <a:rPr lang="en-US" sz="2100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 was selected as the final model due to its superior performance on high-dimensional text data</a:t>
            </a:r>
          </a:p>
        </p:txBody>
      </p:sp>
      <p:sp>
        <p:nvSpPr>
          <p:cNvPr id="31" name="Freeform 31"/>
          <p:cNvSpPr/>
          <p:nvPr/>
        </p:nvSpPr>
        <p:spPr>
          <a:xfrm>
            <a:off x="1066519" y="1117471"/>
            <a:ext cx="820281" cy="838970"/>
          </a:xfrm>
          <a:custGeom>
            <a:avLst/>
            <a:gdLst/>
            <a:ahLst/>
            <a:cxnLst/>
            <a:rect l="l" t="t" r="r" b="b"/>
            <a:pathLst>
              <a:path w="820281" h="838970">
                <a:moveTo>
                  <a:pt x="0" y="0"/>
                </a:moveTo>
                <a:lnTo>
                  <a:pt x="820280" y="0"/>
                </a:lnTo>
                <a:lnTo>
                  <a:pt x="820280" y="838970"/>
                </a:lnTo>
                <a:lnTo>
                  <a:pt x="0" y="838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833746" y="3026094"/>
            <a:ext cx="298163" cy="2225574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3833746" y="6963804"/>
            <a:ext cx="286646" cy="2139608"/>
          </a:xfrm>
          <a:prstGeom prst="rect">
            <a:avLst/>
          </a:prstGeom>
        </p:spPr>
      </p:pic>
      <p:grpSp>
        <p:nvGrpSpPr>
          <p:cNvPr id="34" name="Group 34"/>
          <p:cNvGrpSpPr/>
          <p:nvPr/>
        </p:nvGrpSpPr>
        <p:grpSpPr>
          <a:xfrm>
            <a:off x="3092127" y="7937576"/>
            <a:ext cx="2034361" cy="1817450"/>
            <a:chOff x="0" y="0"/>
            <a:chExt cx="1105281" cy="98742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05281" cy="987425"/>
            </a:xfrm>
            <a:custGeom>
              <a:avLst/>
              <a:gdLst/>
              <a:ahLst/>
              <a:cxnLst/>
              <a:rect l="l" t="t" r="r" b="b"/>
              <a:pathLst>
                <a:path w="1105281" h="987425">
                  <a:moveTo>
                    <a:pt x="1105281" y="186473"/>
                  </a:moveTo>
                  <a:lnTo>
                    <a:pt x="1105281" y="800952"/>
                  </a:lnTo>
                  <a:cubicBezTo>
                    <a:pt x="1105281" y="903938"/>
                    <a:pt x="1021794" y="987425"/>
                    <a:pt x="918808" y="987425"/>
                  </a:cubicBezTo>
                  <a:lnTo>
                    <a:pt x="186473" y="987425"/>
                  </a:lnTo>
                  <a:cubicBezTo>
                    <a:pt x="83487" y="987425"/>
                    <a:pt x="0" y="903938"/>
                    <a:pt x="0" y="800952"/>
                  </a:cubicBezTo>
                  <a:lnTo>
                    <a:pt x="0" y="186473"/>
                  </a:lnTo>
                  <a:cubicBezTo>
                    <a:pt x="0" y="83487"/>
                    <a:pt x="83487" y="0"/>
                    <a:pt x="186473" y="0"/>
                  </a:cubicBezTo>
                  <a:lnTo>
                    <a:pt x="918808" y="0"/>
                  </a:lnTo>
                  <a:cubicBezTo>
                    <a:pt x="1021794" y="0"/>
                    <a:pt x="1105281" y="83487"/>
                    <a:pt x="1105281" y="186473"/>
                  </a:cubicBezTo>
                  <a:close/>
                </a:path>
              </a:pathLst>
            </a:custGeom>
            <a:gradFill rotWithShape="1">
              <a:gsLst>
                <a:gs pos="0">
                  <a:srgbClr val="EBFAFF">
                    <a:alpha val="50000"/>
                  </a:srgbClr>
                </a:gs>
                <a:gs pos="100000">
                  <a:srgbClr val="87CEFB">
                    <a:alpha val="50000"/>
                  </a:srgbClr>
                </a:gs>
              </a:gsLst>
              <a:lin ang="2700000"/>
            </a:gradFill>
            <a:ln w="38100" cap="rnd">
              <a:solidFill>
                <a:srgbClr val="4A90E2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105281" cy="1025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082602" y="8183010"/>
            <a:ext cx="1845158" cy="1077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5"/>
              </a:lnSpc>
            </a:pPr>
            <a:r>
              <a:rPr lang="en-US" sz="2317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 Accuracy</a:t>
            </a:r>
          </a:p>
          <a:p>
            <a:pPr algn="ctr">
              <a:lnSpc>
                <a:spcPts val="5425"/>
              </a:lnSpc>
            </a:pPr>
            <a:r>
              <a:rPr lang="en-US" sz="3617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 83.6 %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6276108" y="7937576"/>
            <a:ext cx="2034361" cy="1817450"/>
            <a:chOff x="0" y="0"/>
            <a:chExt cx="1105281" cy="98742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05281" cy="987425"/>
            </a:xfrm>
            <a:custGeom>
              <a:avLst/>
              <a:gdLst/>
              <a:ahLst/>
              <a:cxnLst/>
              <a:rect l="l" t="t" r="r" b="b"/>
              <a:pathLst>
                <a:path w="1105281" h="987425">
                  <a:moveTo>
                    <a:pt x="1105281" y="186473"/>
                  </a:moveTo>
                  <a:lnTo>
                    <a:pt x="1105281" y="800952"/>
                  </a:lnTo>
                  <a:cubicBezTo>
                    <a:pt x="1105281" y="903938"/>
                    <a:pt x="1021794" y="987425"/>
                    <a:pt x="918808" y="987425"/>
                  </a:cubicBezTo>
                  <a:lnTo>
                    <a:pt x="186473" y="987425"/>
                  </a:lnTo>
                  <a:cubicBezTo>
                    <a:pt x="83487" y="987425"/>
                    <a:pt x="0" y="903938"/>
                    <a:pt x="0" y="800952"/>
                  </a:cubicBezTo>
                  <a:lnTo>
                    <a:pt x="0" y="186473"/>
                  </a:lnTo>
                  <a:cubicBezTo>
                    <a:pt x="0" y="83487"/>
                    <a:pt x="83487" y="0"/>
                    <a:pt x="186473" y="0"/>
                  </a:cubicBezTo>
                  <a:lnTo>
                    <a:pt x="918808" y="0"/>
                  </a:lnTo>
                  <a:cubicBezTo>
                    <a:pt x="1021794" y="0"/>
                    <a:pt x="1105281" y="83487"/>
                    <a:pt x="1105281" y="186473"/>
                  </a:cubicBezTo>
                  <a:close/>
                </a:path>
              </a:pathLst>
            </a:custGeom>
            <a:gradFill rotWithShape="1">
              <a:gsLst>
                <a:gs pos="0">
                  <a:srgbClr val="EBFAFF">
                    <a:alpha val="50000"/>
                  </a:srgbClr>
                </a:gs>
                <a:gs pos="100000">
                  <a:srgbClr val="87CEFB">
                    <a:alpha val="50000"/>
                  </a:srgbClr>
                </a:gs>
              </a:gsLst>
              <a:lin ang="2700000"/>
            </a:gradFill>
            <a:ln w="38100" cap="rnd">
              <a:solidFill>
                <a:srgbClr val="4A90E2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105281" cy="1025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6276108" y="8183010"/>
            <a:ext cx="1845158" cy="1077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5"/>
              </a:lnSpc>
            </a:pPr>
            <a:r>
              <a:rPr lang="en-US" sz="2317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 Macro F1 </a:t>
            </a:r>
          </a:p>
          <a:p>
            <a:pPr algn="ctr">
              <a:lnSpc>
                <a:spcPts val="5425"/>
              </a:lnSpc>
            </a:pPr>
            <a:r>
              <a:rPr lang="en-US" sz="3617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  0.84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39012" y="1811970"/>
            <a:ext cx="3926536" cy="90483"/>
            <a:chOff x="0" y="0"/>
            <a:chExt cx="1034149" cy="238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4149" cy="23831"/>
            </a:xfrm>
            <a:custGeom>
              <a:avLst/>
              <a:gdLst/>
              <a:ahLst/>
              <a:cxnLst/>
              <a:rect l="l" t="t" r="r" b="b"/>
              <a:pathLst>
                <a:path w="1034149" h="23831">
                  <a:moveTo>
                    <a:pt x="0" y="0"/>
                  </a:moveTo>
                  <a:lnTo>
                    <a:pt x="1034149" y="0"/>
                  </a:lnTo>
                  <a:lnTo>
                    <a:pt x="1034149" y="23831"/>
                  </a:lnTo>
                  <a:lnTo>
                    <a:pt x="0" y="23831"/>
                  </a:lnTo>
                  <a:close/>
                </a:path>
              </a:pathLst>
            </a:custGeom>
            <a:solidFill>
              <a:srgbClr val="F4C54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34149" cy="61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959585" y="2431646"/>
            <a:ext cx="2678745" cy="2678745"/>
          </a:xfrm>
          <a:custGeom>
            <a:avLst/>
            <a:gdLst/>
            <a:ahLst/>
            <a:cxnLst/>
            <a:rect l="l" t="t" r="r" b="b"/>
            <a:pathLst>
              <a:path w="2678745" h="2678745">
                <a:moveTo>
                  <a:pt x="0" y="0"/>
                </a:moveTo>
                <a:lnTo>
                  <a:pt x="2678746" y="0"/>
                </a:lnTo>
                <a:lnTo>
                  <a:pt x="2678746" y="2678745"/>
                </a:lnTo>
                <a:lnTo>
                  <a:pt x="0" y="2678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6" name="Freeform 6"/>
          <p:cNvSpPr/>
          <p:nvPr/>
        </p:nvSpPr>
        <p:spPr>
          <a:xfrm>
            <a:off x="1128517" y="1041191"/>
            <a:ext cx="861487" cy="901909"/>
          </a:xfrm>
          <a:custGeom>
            <a:avLst/>
            <a:gdLst/>
            <a:ahLst/>
            <a:cxnLst/>
            <a:rect l="l" t="t" r="r" b="b"/>
            <a:pathLst>
              <a:path w="861487" h="901909">
                <a:moveTo>
                  <a:pt x="0" y="0"/>
                </a:moveTo>
                <a:lnTo>
                  <a:pt x="861487" y="0"/>
                </a:lnTo>
                <a:lnTo>
                  <a:pt x="861487" y="901909"/>
                </a:lnTo>
                <a:lnTo>
                  <a:pt x="0" y="9019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347139" y="3396925"/>
            <a:ext cx="969323" cy="971915"/>
          </a:xfrm>
          <a:custGeom>
            <a:avLst/>
            <a:gdLst/>
            <a:ahLst/>
            <a:cxnLst/>
            <a:rect l="l" t="t" r="r" b="b"/>
            <a:pathLst>
              <a:path w="969323" h="971915">
                <a:moveTo>
                  <a:pt x="0" y="0"/>
                </a:moveTo>
                <a:lnTo>
                  <a:pt x="969323" y="0"/>
                </a:lnTo>
                <a:lnTo>
                  <a:pt x="969323" y="971916"/>
                </a:lnTo>
                <a:lnTo>
                  <a:pt x="0" y="9719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549963" y="3396925"/>
            <a:ext cx="891736" cy="1102145"/>
          </a:xfrm>
          <a:custGeom>
            <a:avLst/>
            <a:gdLst/>
            <a:ahLst/>
            <a:cxnLst/>
            <a:rect l="l" t="t" r="r" b="b"/>
            <a:pathLst>
              <a:path w="891736" h="1102145">
                <a:moveTo>
                  <a:pt x="0" y="0"/>
                </a:moveTo>
                <a:lnTo>
                  <a:pt x="891736" y="0"/>
                </a:lnTo>
                <a:lnTo>
                  <a:pt x="891736" y="1102146"/>
                </a:lnTo>
                <a:lnTo>
                  <a:pt x="0" y="11021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496667" y="3249317"/>
            <a:ext cx="982886" cy="982886"/>
          </a:xfrm>
          <a:custGeom>
            <a:avLst/>
            <a:gdLst/>
            <a:ahLst/>
            <a:cxnLst/>
            <a:rect l="l" t="t" r="r" b="b"/>
            <a:pathLst>
              <a:path w="982886" h="982886">
                <a:moveTo>
                  <a:pt x="0" y="0"/>
                </a:moveTo>
                <a:lnTo>
                  <a:pt x="982886" y="0"/>
                </a:lnTo>
                <a:lnTo>
                  <a:pt x="982886" y="982886"/>
                </a:lnTo>
                <a:lnTo>
                  <a:pt x="0" y="9828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534521" y="3178887"/>
            <a:ext cx="1011370" cy="1123745"/>
          </a:xfrm>
          <a:custGeom>
            <a:avLst/>
            <a:gdLst/>
            <a:ahLst/>
            <a:cxnLst/>
            <a:rect l="l" t="t" r="r" b="b"/>
            <a:pathLst>
              <a:path w="1011370" h="1123745">
                <a:moveTo>
                  <a:pt x="0" y="0"/>
                </a:moveTo>
                <a:lnTo>
                  <a:pt x="1011370" y="0"/>
                </a:lnTo>
                <a:lnTo>
                  <a:pt x="1011370" y="1123745"/>
                </a:lnTo>
                <a:lnTo>
                  <a:pt x="0" y="11237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970857" y="2476122"/>
            <a:ext cx="2545080" cy="2545080"/>
          </a:xfrm>
          <a:custGeom>
            <a:avLst/>
            <a:gdLst/>
            <a:ahLst/>
            <a:cxnLst/>
            <a:rect l="l" t="t" r="r" b="b"/>
            <a:pathLst>
              <a:path w="2545080" h="2545080">
                <a:moveTo>
                  <a:pt x="0" y="0"/>
                </a:moveTo>
                <a:lnTo>
                  <a:pt x="2545079" y="0"/>
                </a:lnTo>
                <a:lnTo>
                  <a:pt x="2545079" y="2545079"/>
                </a:lnTo>
                <a:lnTo>
                  <a:pt x="0" y="25450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Freeform 12"/>
          <p:cNvSpPr/>
          <p:nvPr/>
        </p:nvSpPr>
        <p:spPr>
          <a:xfrm>
            <a:off x="9888791" y="2545676"/>
            <a:ext cx="2545080" cy="2545080"/>
          </a:xfrm>
          <a:custGeom>
            <a:avLst/>
            <a:gdLst/>
            <a:ahLst/>
            <a:cxnLst/>
            <a:rect l="l" t="t" r="r" b="b"/>
            <a:pathLst>
              <a:path w="2545080" h="2545080">
                <a:moveTo>
                  <a:pt x="0" y="0"/>
                </a:moveTo>
                <a:lnTo>
                  <a:pt x="2545080" y="0"/>
                </a:lnTo>
                <a:lnTo>
                  <a:pt x="2545080" y="2545079"/>
                </a:lnTo>
                <a:lnTo>
                  <a:pt x="0" y="25450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" name="Freeform 13"/>
          <p:cNvSpPr/>
          <p:nvPr/>
        </p:nvSpPr>
        <p:spPr>
          <a:xfrm>
            <a:off x="7833217" y="2545676"/>
            <a:ext cx="2545080" cy="2545080"/>
          </a:xfrm>
          <a:custGeom>
            <a:avLst/>
            <a:gdLst/>
            <a:ahLst/>
            <a:cxnLst/>
            <a:rect l="l" t="t" r="r" b="b"/>
            <a:pathLst>
              <a:path w="2545080" h="2545080">
                <a:moveTo>
                  <a:pt x="0" y="0"/>
                </a:moveTo>
                <a:lnTo>
                  <a:pt x="2545079" y="0"/>
                </a:lnTo>
                <a:lnTo>
                  <a:pt x="2545079" y="2545079"/>
                </a:lnTo>
                <a:lnTo>
                  <a:pt x="0" y="25450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4" name="Freeform 14"/>
          <p:cNvSpPr/>
          <p:nvPr/>
        </p:nvSpPr>
        <p:spPr>
          <a:xfrm>
            <a:off x="10721196" y="3180653"/>
            <a:ext cx="908814" cy="1136017"/>
          </a:xfrm>
          <a:custGeom>
            <a:avLst/>
            <a:gdLst/>
            <a:ahLst/>
            <a:cxnLst/>
            <a:rect l="l" t="t" r="r" b="b"/>
            <a:pathLst>
              <a:path w="908814" h="1136017">
                <a:moveTo>
                  <a:pt x="0" y="0"/>
                </a:moveTo>
                <a:lnTo>
                  <a:pt x="908814" y="0"/>
                </a:lnTo>
                <a:lnTo>
                  <a:pt x="908814" y="1136017"/>
                </a:lnTo>
                <a:lnTo>
                  <a:pt x="0" y="1136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614962" y="3074615"/>
            <a:ext cx="1256869" cy="1316720"/>
          </a:xfrm>
          <a:custGeom>
            <a:avLst/>
            <a:gdLst/>
            <a:ahLst/>
            <a:cxnLst/>
            <a:rect l="l" t="t" r="r" b="b"/>
            <a:pathLst>
              <a:path w="1256869" h="1316720">
                <a:moveTo>
                  <a:pt x="0" y="0"/>
                </a:moveTo>
                <a:lnTo>
                  <a:pt x="1256869" y="0"/>
                </a:lnTo>
                <a:lnTo>
                  <a:pt x="1256869" y="1316720"/>
                </a:lnTo>
                <a:lnTo>
                  <a:pt x="0" y="13167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4675774" y="3074615"/>
            <a:ext cx="1246368" cy="1274766"/>
          </a:xfrm>
          <a:custGeom>
            <a:avLst/>
            <a:gdLst/>
            <a:ahLst/>
            <a:cxnLst/>
            <a:rect l="l" t="t" r="r" b="b"/>
            <a:pathLst>
              <a:path w="1246368" h="1274766">
                <a:moveTo>
                  <a:pt x="0" y="0"/>
                </a:moveTo>
                <a:lnTo>
                  <a:pt x="1246368" y="0"/>
                </a:lnTo>
                <a:lnTo>
                  <a:pt x="1246368" y="1274767"/>
                </a:lnTo>
                <a:lnTo>
                  <a:pt x="0" y="12747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5715570" y="2565311"/>
            <a:ext cx="2545080" cy="2545080"/>
          </a:xfrm>
          <a:custGeom>
            <a:avLst/>
            <a:gdLst/>
            <a:ahLst/>
            <a:cxnLst/>
            <a:rect l="l" t="t" r="r" b="b"/>
            <a:pathLst>
              <a:path w="2545080" h="2545080">
                <a:moveTo>
                  <a:pt x="0" y="0"/>
                </a:moveTo>
                <a:lnTo>
                  <a:pt x="2545080" y="0"/>
                </a:lnTo>
                <a:lnTo>
                  <a:pt x="2545080" y="2545080"/>
                </a:lnTo>
                <a:lnTo>
                  <a:pt x="0" y="25450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8" name="Freeform 18"/>
          <p:cNvSpPr/>
          <p:nvPr/>
        </p:nvSpPr>
        <p:spPr>
          <a:xfrm>
            <a:off x="3659362" y="2675458"/>
            <a:ext cx="2545080" cy="2545080"/>
          </a:xfrm>
          <a:custGeom>
            <a:avLst/>
            <a:gdLst/>
            <a:ahLst/>
            <a:cxnLst/>
            <a:rect l="l" t="t" r="r" b="b"/>
            <a:pathLst>
              <a:path w="2545080" h="2545080">
                <a:moveTo>
                  <a:pt x="0" y="0"/>
                </a:moveTo>
                <a:lnTo>
                  <a:pt x="2545080" y="0"/>
                </a:lnTo>
                <a:lnTo>
                  <a:pt x="2545080" y="2545080"/>
                </a:lnTo>
                <a:lnTo>
                  <a:pt x="0" y="25450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9" name="Freeform 19"/>
          <p:cNvSpPr/>
          <p:nvPr/>
        </p:nvSpPr>
        <p:spPr>
          <a:xfrm>
            <a:off x="1559261" y="2713678"/>
            <a:ext cx="2545080" cy="2545080"/>
          </a:xfrm>
          <a:custGeom>
            <a:avLst/>
            <a:gdLst/>
            <a:ahLst/>
            <a:cxnLst/>
            <a:rect l="l" t="t" r="r" b="b"/>
            <a:pathLst>
              <a:path w="2545080" h="2545080">
                <a:moveTo>
                  <a:pt x="0" y="0"/>
                </a:moveTo>
                <a:lnTo>
                  <a:pt x="2545079" y="0"/>
                </a:lnTo>
                <a:lnTo>
                  <a:pt x="2545079" y="2545080"/>
                </a:lnTo>
                <a:lnTo>
                  <a:pt x="0" y="25450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0" name="TextBox 20"/>
          <p:cNvSpPr txBox="1"/>
          <p:nvPr/>
        </p:nvSpPr>
        <p:spPr>
          <a:xfrm>
            <a:off x="2018265" y="914400"/>
            <a:ext cx="4504077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Conclusion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74137" y="5033585"/>
            <a:ext cx="1479426" cy="655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8"/>
              </a:lnSpc>
            </a:pPr>
            <a:r>
              <a:rPr lang="en-US" sz="1870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Data </a:t>
            </a:r>
          </a:p>
          <a:p>
            <a:pPr algn="ctr">
              <a:lnSpc>
                <a:spcPts val="2618"/>
              </a:lnSpc>
              <a:spcBef>
                <a:spcPct val="0"/>
              </a:spcBef>
            </a:pPr>
            <a:r>
              <a:rPr lang="en-US" sz="1870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Preprocess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40251" y="5033585"/>
            <a:ext cx="1479426" cy="655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8"/>
              </a:lnSpc>
            </a:pPr>
            <a:r>
              <a:rPr lang="en-US" sz="1870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Anomaly</a:t>
            </a:r>
          </a:p>
          <a:p>
            <a:pPr algn="ctr">
              <a:lnSpc>
                <a:spcPts val="2618"/>
              </a:lnSpc>
              <a:spcBef>
                <a:spcPct val="0"/>
              </a:spcBef>
            </a:pPr>
            <a:r>
              <a:rPr lang="en-US" sz="1870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Detect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49681" y="4983101"/>
            <a:ext cx="1479426" cy="655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8"/>
              </a:lnSpc>
            </a:pPr>
            <a:r>
              <a:rPr lang="en-US" sz="1870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Domain</a:t>
            </a:r>
          </a:p>
          <a:p>
            <a:pPr algn="ctr">
              <a:lnSpc>
                <a:spcPts val="2618"/>
              </a:lnSpc>
              <a:spcBef>
                <a:spcPct val="0"/>
              </a:spcBef>
            </a:pPr>
            <a:r>
              <a:rPr lang="en-US" sz="1870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Classify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93499" y="4983101"/>
            <a:ext cx="1479426" cy="655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8"/>
              </a:lnSpc>
            </a:pPr>
            <a:r>
              <a:rPr lang="en-US" sz="1870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Keyword</a:t>
            </a:r>
          </a:p>
          <a:p>
            <a:pPr algn="ctr">
              <a:lnSpc>
                <a:spcPts val="2618"/>
              </a:lnSpc>
              <a:spcBef>
                <a:spcPct val="0"/>
              </a:spcBef>
            </a:pPr>
            <a:r>
              <a:rPr lang="en-US" sz="1870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Extract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75564" y="4983101"/>
            <a:ext cx="1479426" cy="655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8"/>
              </a:lnSpc>
            </a:pPr>
            <a:r>
              <a:rPr lang="en-US" sz="1870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Urgency</a:t>
            </a:r>
          </a:p>
          <a:p>
            <a:pPr algn="ctr">
              <a:lnSpc>
                <a:spcPts val="2618"/>
              </a:lnSpc>
              <a:spcBef>
                <a:spcPct val="0"/>
              </a:spcBef>
            </a:pPr>
            <a:r>
              <a:rPr lang="en-US" sz="1870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Predict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587817" y="4983101"/>
            <a:ext cx="1640272" cy="655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8"/>
              </a:lnSpc>
              <a:spcBef>
                <a:spcPct val="0"/>
              </a:spcBef>
            </a:pPr>
            <a:r>
              <a:rPr lang="en-US" sz="1870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Resolution Time Predict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526850" y="4983101"/>
            <a:ext cx="1479426" cy="655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8"/>
              </a:lnSpc>
            </a:pPr>
            <a:r>
              <a:rPr lang="en-US" sz="1870" b="1" dirty="0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Sentiment</a:t>
            </a:r>
          </a:p>
          <a:p>
            <a:pPr algn="ctr">
              <a:lnSpc>
                <a:spcPts val="2618"/>
              </a:lnSpc>
              <a:spcBef>
                <a:spcPct val="0"/>
              </a:spcBef>
            </a:pPr>
            <a:r>
              <a:rPr lang="en-US" sz="1870" b="1" dirty="0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Analysis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2377487" y="6577966"/>
            <a:ext cx="3849586" cy="2940367"/>
            <a:chOff x="0" y="0"/>
            <a:chExt cx="1181889" cy="90273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81889" cy="902737"/>
            </a:xfrm>
            <a:custGeom>
              <a:avLst/>
              <a:gdLst/>
              <a:ahLst/>
              <a:cxnLst/>
              <a:rect l="l" t="t" r="r" b="b"/>
              <a:pathLst>
                <a:path w="1181889" h="902737">
                  <a:moveTo>
                    <a:pt x="1181889" y="98544"/>
                  </a:moveTo>
                  <a:lnTo>
                    <a:pt x="1181889" y="804193"/>
                  </a:lnTo>
                  <a:cubicBezTo>
                    <a:pt x="1181889" y="858617"/>
                    <a:pt x="1137769" y="902737"/>
                    <a:pt x="1083345" y="902737"/>
                  </a:cubicBezTo>
                  <a:lnTo>
                    <a:pt x="98544" y="902737"/>
                  </a:lnTo>
                  <a:cubicBezTo>
                    <a:pt x="72409" y="902737"/>
                    <a:pt x="47344" y="892354"/>
                    <a:pt x="28863" y="873874"/>
                  </a:cubicBezTo>
                  <a:cubicBezTo>
                    <a:pt x="10382" y="855393"/>
                    <a:pt x="0" y="830328"/>
                    <a:pt x="0" y="804193"/>
                  </a:cubicBezTo>
                  <a:lnTo>
                    <a:pt x="0" y="98544"/>
                  </a:lnTo>
                  <a:cubicBezTo>
                    <a:pt x="0" y="72409"/>
                    <a:pt x="10382" y="47344"/>
                    <a:pt x="28863" y="28863"/>
                  </a:cubicBezTo>
                  <a:cubicBezTo>
                    <a:pt x="47344" y="10382"/>
                    <a:pt x="72409" y="0"/>
                    <a:pt x="98544" y="0"/>
                  </a:cubicBezTo>
                  <a:lnTo>
                    <a:pt x="1083345" y="0"/>
                  </a:lnTo>
                  <a:cubicBezTo>
                    <a:pt x="1137769" y="0"/>
                    <a:pt x="1181889" y="44120"/>
                    <a:pt x="1181889" y="98544"/>
                  </a:cubicBezTo>
                  <a:close/>
                </a:path>
              </a:pathLst>
            </a:custGeom>
            <a:gradFill rotWithShape="1">
              <a:gsLst>
                <a:gs pos="0">
                  <a:srgbClr val="EBFAFF">
                    <a:alpha val="50000"/>
                  </a:srgbClr>
                </a:gs>
                <a:gs pos="100000">
                  <a:srgbClr val="87CEFB">
                    <a:alpha val="50000"/>
                  </a:srgbClr>
                </a:gs>
              </a:gsLst>
              <a:lin ang="2700000"/>
            </a:gradFill>
            <a:ln w="38100" cap="rnd">
              <a:solidFill>
                <a:srgbClr val="4A90E2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181889" cy="9408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776520" y="6831220"/>
            <a:ext cx="2948823" cy="897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  <a:spcBef>
                <a:spcPct val="0"/>
              </a:spcBef>
            </a:pPr>
            <a:r>
              <a:rPr lang="en-US" sz="2573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End-to-End Automation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844912" y="7977989"/>
            <a:ext cx="3135062" cy="1056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1"/>
              </a:lnSpc>
              <a:spcBef>
                <a:spcPct val="0"/>
              </a:spcBef>
            </a:pPr>
            <a:r>
              <a:rPr lang="en-US" sz="1515">
                <a:solidFill>
                  <a:srgbClr val="1F1F1F"/>
                </a:solidFill>
                <a:latin typeface="Merriweather"/>
                <a:ea typeface="Merriweather"/>
                <a:cs typeface="Merriweather"/>
                <a:sym typeface="Merriweather"/>
              </a:rPr>
              <a:t>Six ML modules transform raw text into structured, prioritized, and time-estimated grievances with no manual intervention.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6973008" y="6577966"/>
            <a:ext cx="3849586" cy="2940367"/>
            <a:chOff x="0" y="0"/>
            <a:chExt cx="1181889" cy="90273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81889" cy="902737"/>
            </a:xfrm>
            <a:custGeom>
              <a:avLst/>
              <a:gdLst/>
              <a:ahLst/>
              <a:cxnLst/>
              <a:rect l="l" t="t" r="r" b="b"/>
              <a:pathLst>
                <a:path w="1181889" h="902737">
                  <a:moveTo>
                    <a:pt x="1181889" y="98544"/>
                  </a:moveTo>
                  <a:lnTo>
                    <a:pt x="1181889" y="804193"/>
                  </a:lnTo>
                  <a:cubicBezTo>
                    <a:pt x="1181889" y="858617"/>
                    <a:pt x="1137769" y="902737"/>
                    <a:pt x="1083345" y="902737"/>
                  </a:cubicBezTo>
                  <a:lnTo>
                    <a:pt x="98544" y="902737"/>
                  </a:lnTo>
                  <a:cubicBezTo>
                    <a:pt x="72409" y="902737"/>
                    <a:pt x="47344" y="892354"/>
                    <a:pt x="28863" y="873874"/>
                  </a:cubicBezTo>
                  <a:cubicBezTo>
                    <a:pt x="10382" y="855393"/>
                    <a:pt x="0" y="830328"/>
                    <a:pt x="0" y="804193"/>
                  </a:cubicBezTo>
                  <a:lnTo>
                    <a:pt x="0" y="98544"/>
                  </a:lnTo>
                  <a:cubicBezTo>
                    <a:pt x="0" y="72409"/>
                    <a:pt x="10382" y="47344"/>
                    <a:pt x="28863" y="28863"/>
                  </a:cubicBezTo>
                  <a:cubicBezTo>
                    <a:pt x="47344" y="10382"/>
                    <a:pt x="72409" y="0"/>
                    <a:pt x="98544" y="0"/>
                  </a:cubicBezTo>
                  <a:lnTo>
                    <a:pt x="1083345" y="0"/>
                  </a:lnTo>
                  <a:cubicBezTo>
                    <a:pt x="1137769" y="0"/>
                    <a:pt x="1181889" y="44120"/>
                    <a:pt x="1181889" y="98544"/>
                  </a:cubicBezTo>
                  <a:close/>
                </a:path>
              </a:pathLst>
            </a:custGeom>
            <a:gradFill rotWithShape="1">
              <a:gsLst>
                <a:gs pos="0">
                  <a:srgbClr val="EBFAFF">
                    <a:alpha val="50000"/>
                  </a:srgbClr>
                </a:gs>
                <a:gs pos="100000">
                  <a:srgbClr val="87CEFB">
                    <a:alpha val="50000"/>
                  </a:srgbClr>
                </a:gs>
              </a:gsLst>
              <a:lin ang="2700000"/>
            </a:gradFill>
            <a:ln w="38100" cap="rnd">
              <a:solidFill>
                <a:srgbClr val="4A90E2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181889" cy="9408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7298628" y="6831220"/>
            <a:ext cx="2948823" cy="897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  <a:spcBef>
                <a:spcPct val="0"/>
              </a:spcBef>
            </a:pPr>
            <a:r>
              <a:rPr lang="en-US" sz="2573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Proven Performance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298628" y="7901789"/>
            <a:ext cx="3378335" cy="1323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1"/>
              </a:lnSpc>
              <a:spcBef>
                <a:spcPct val="0"/>
              </a:spcBef>
            </a:pPr>
            <a:r>
              <a:rPr lang="en-US" sz="1515">
                <a:solidFill>
                  <a:srgbClr val="1F1F1F"/>
                </a:solidFill>
                <a:latin typeface="Merriweather"/>
                <a:ea typeface="Merriweather"/>
                <a:cs typeface="Merriweather"/>
                <a:sym typeface="Merriweather"/>
              </a:rPr>
              <a:t>Domain classification reaches 98% accuracy; severity scoring achieves 94%; resolution prediction and sentiment analysis deliver reliable, actionable outputs.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1565544" y="6577966"/>
            <a:ext cx="3849586" cy="2940367"/>
            <a:chOff x="0" y="0"/>
            <a:chExt cx="1181889" cy="90273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81889" cy="902737"/>
            </a:xfrm>
            <a:custGeom>
              <a:avLst/>
              <a:gdLst/>
              <a:ahLst/>
              <a:cxnLst/>
              <a:rect l="l" t="t" r="r" b="b"/>
              <a:pathLst>
                <a:path w="1181889" h="902737">
                  <a:moveTo>
                    <a:pt x="1181889" y="98544"/>
                  </a:moveTo>
                  <a:lnTo>
                    <a:pt x="1181889" y="804193"/>
                  </a:lnTo>
                  <a:cubicBezTo>
                    <a:pt x="1181889" y="858617"/>
                    <a:pt x="1137769" y="902737"/>
                    <a:pt x="1083345" y="902737"/>
                  </a:cubicBezTo>
                  <a:lnTo>
                    <a:pt x="98544" y="902737"/>
                  </a:lnTo>
                  <a:cubicBezTo>
                    <a:pt x="72409" y="902737"/>
                    <a:pt x="47344" y="892354"/>
                    <a:pt x="28863" y="873874"/>
                  </a:cubicBezTo>
                  <a:cubicBezTo>
                    <a:pt x="10382" y="855393"/>
                    <a:pt x="0" y="830328"/>
                    <a:pt x="0" y="804193"/>
                  </a:cubicBezTo>
                  <a:lnTo>
                    <a:pt x="0" y="98544"/>
                  </a:lnTo>
                  <a:cubicBezTo>
                    <a:pt x="0" y="72409"/>
                    <a:pt x="10382" y="47344"/>
                    <a:pt x="28863" y="28863"/>
                  </a:cubicBezTo>
                  <a:cubicBezTo>
                    <a:pt x="47344" y="10382"/>
                    <a:pt x="72409" y="0"/>
                    <a:pt x="98544" y="0"/>
                  </a:cubicBezTo>
                  <a:lnTo>
                    <a:pt x="1083345" y="0"/>
                  </a:lnTo>
                  <a:cubicBezTo>
                    <a:pt x="1137769" y="0"/>
                    <a:pt x="1181889" y="44120"/>
                    <a:pt x="1181889" y="98544"/>
                  </a:cubicBezTo>
                  <a:close/>
                </a:path>
              </a:pathLst>
            </a:custGeom>
            <a:gradFill rotWithShape="1">
              <a:gsLst>
                <a:gs pos="0">
                  <a:srgbClr val="EBFAFF">
                    <a:alpha val="50000"/>
                  </a:srgbClr>
                </a:gs>
                <a:gs pos="100000">
                  <a:srgbClr val="87CEFB">
                    <a:alpha val="50000"/>
                  </a:srgbClr>
                </a:gs>
              </a:gsLst>
              <a:lin ang="2700000"/>
            </a:gradFill>
            <a:ln w="38100" cap="rnd">
              <a:solidFill>
                <a:srgbClr val="4A90E2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181889" cy="9408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2024514" y="6780667"/>
            <a:ext cx="2948823" cy="897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2"/>
              </a:lnSpc>
              <a:spcBef>
                <a:spcPct val="0"/>
              </a:spcBef>
            </a:pPr>
            <a:r>
              <a:rPr lang="en-US" sz="2573" b="1">
                <a:solidFill>
                  <a:srgbClr val="1F1F1F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Scalable Governance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022744" y="7901789"/>
            <a:ext cx="3135062" cy="1323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1"/>
              </a:lnSpc>
              <a:spcBef>
                <a:spcPct val="0"/>
              </a:spcBef>
            </a:pPr>
            <a:r>
              <a:rPr lang="en-US" sz="1515">
                <a:solidFill>
                  <a:srgbClr val="1F1F1F"/>
                </a:solidFill>
                <a:latin typeface="Merriweather"/>
                <a:ea typeface="Merriweather"/>
                <a:cs typeface="Merriweather"/>
                <a:sym typeface="Merriweather"/>
              </a:rPr>
              <a:t>Reduces response times, ensures consistent routing, and provides decision-makers with real-time, data-driven grievance intelligence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52757"/>
            <a:ext cx="4530045" cy="136733"/>
            <a:chOff x="0" y="0"/>
            <a:chExt cx="1193098" cy="360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3098" cy="36012"/>
            </a:xfrm>
            <a:custGeom>
              <a:avLst/>
              <a:gdLst/>
              <a:ahLst/>
              <a:cxnLst/>
              <a:rect l="l" t="t" r="r" b="b"/>
              <a:pathLst>
                <a:path w="1193098" h="36012">
                  <a:moveTo>
                    <a:pt x="0" y="0"/>
                  </a:moveTo>
                  <a:lnTo>
                    <a:pt x="1193098" y="0"/>
                  </a:lnTo>
                  <a:lnTo>
                    <a:pt x="1193098" y="36012"/>
                  </a:lnTo>
                  <a:lnTo>
                    <a:pt x="0" y="36012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93098" cy="74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93722" y="3636939"/>
            <a:ext cx="11217042" cy="1517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66"/>
              </a:lnSpc>
              <a:spcBef>
                <a:spcPct val="0"/>
              </a:spcBef>
            </a:pPr>
            <a:r>
              <a:rPr lang="en-US" sz="8832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293722" y="5202955"/>
            <a:ext cx="11217042" cy="1517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66"/>
              </a:lnSpc>
              <a:spcBef>
                <a:spcPct val="0"/>
              </a:spcBef>
            </a:pPr>
            <a:r>
              <a:rPr lang="en-US" sz="8832" b="1" dirty="0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Q\A</a:t>
            </a:r>
          </a:p>
        </p:txBody>
      </p:sp>
      <p:grpSp>
        <p:nvGrpSpPr>
          <p:cNvPr id="7" name="Group 7"/>
          <p:cNvGrpSpPr/>
          <p:nvPr/>
        </p:nvGrpSpPr>
        <p:grpSpPr>
          <a:xfrm rot="-10800000">
            <a:off x="6019560" y="4914901"/>
            <a:ext cx="6081071" cy="131745"/>
            <a:chOff x="0" y="0"/>
            <a:chExt cx="1601599" cy="346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01599" cy="34698"/>
            </a:xfrm>
            <a:custGeom>
              <a:avLst/>
              <a:gdLst/>
              <a:ahLst/>
              <a:cxnLst/>
              <a:rect l="l" t="t" r="r" b="b"/>
              <a:pathLst>
                <a:path w="1601599" h="34698">
                  <a:moveTo>
                    <a:pt x="0" y="0"/>
                  </a:moveTo>
                  <a:lnTo>
                    <a:pt x="1601599" y="0"/>
                  </a:lnTo>
                  <a:lnTo>
                    <a:pt x="1601599" y="34698"/>
                  </a:lnTo>
                  <a:lnTo>
                    <a:pt x="0" y="34698"/>
                  </a:lnTo>
                  <a:close/>
                </a:path>
              </a:pathLst>
            </a:custGeom>
            <a:solidFill>
              <a:srgbClr val="F4C54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01599" cy="72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8057282" y="6641516"/>
            <a:ext cx="2005629" cy="158054"/>
            <a:chOff x="0" y="0"/>
            <a:chExt cx="528231" cy="416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8231" cy="41627"/>
            </a:xfrm>
            <a:custGeom>
              <a:avLst/>
              <a:gdLst/>
              <a:ahLst/>
              <a:cxnLst/>
              <a:rect l="l" t="t" r="r" b="b"/>
              <a:pathLst>
                <a:path w="528231" h="41627">
                  <a:moveTo>
                    <a:pt x="0" y="0"/>
                  </a:moveTo>
                  <a:lnTo>
                    <a:pt x="528231" y="0"/>
                  </a:lnTo>
                  <a:lnTo>
                    <a:pt x="528231" y="41627"/>
                  </a:lnTo>
                  <a:lnTo>
                    <a:pt x="0" y="41627"/>
                  </a:lnTo>
                  <a:close/>
                </a:path>
              </a:pathLst>
            </a:custGeom>
            <a:solidFill>
              <a:srgbClr val="F4C54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528231" cy="79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46502" y="1630333"/>
            <a:ext cx="3926536" cy="90483"/>
            <a:chOff x="0" y="0"/>
            <a:chExt cx="1034149" cy="238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4149" cy="23831"/>
            </a:xfrm>
            <a:custGeom>
              <a:avLst/>
              <a:gdLst/>
              <a:ahLst/>
              <a:cxnLst/>
              <a:rect l="l" t="t" r="r" b="b"/>
              <a:pathLst>
                <a:path w="1034149" h="23831">
                  <a:moveTo>
                    <a:pt x="0" y="0"/>
                  </a:moveTo>
                  <a:lnTo>
                    <a:pt x="1034149" y="0"/>
                  </a:lnTo>
                  <a:lnTo>
                    <a:pt x="1034149" y="23831"/>
                  </a:lnTo>
                  <a:lnTo>
                    <a:pt x="0" y="23831"/>
                  </a:lnTo>
                  <a:close/>
                </a:path>
              </a:pathLst>
            </a:custGeom>
            <a:solidFill>
              <a:srgbClr val="F4C54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34149" cy="61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2420898"/>
            <a:ext cx="199634" cy="215470"/>
            <a:chOff x="0" y="0"/>
            <a:chExt cx="61214" cy="66167"/>
          </a:xfrm>
        </p:grpSpPr>
        <p:sp>
          <p:nvSpPr>
            <p:cNvPr id="6" name="Freeform 6"/>
            <p:cNvSpPr/>
            <p:nvPr/>
          </p:nvSpPr>
          <p:spPr>
            <a:xfrm>
              <a:off x="455" y="0"/>
              <a:ext cx="60304" cy="66062"/>
            </a:xfrm>
            <a:custGeom>
              <a:avLst/>
              <a:gdLst/>
              <a:ahLst/>
              <a:cxnLst/>
              <a:rect l="l" t="t" r="r" b="b"/>
              <a:pathLst>
                <a:path w="60304" h="66062">
                  <a:moveTo>
                    <a:pt x="40480" y="1992"/>
                  </a:moveTo>
                  <a:lnTo>
                    <a:pt x="40482" y="1992"/>
                  </a:lnTo>
                  <a:cubicBezTo>
                    <a:pt x="43771" y="3310"/>
                    <a:pt x="46794" y="5211"/>
                    <a:pt x="49407" y="7603"/>
                  </a:cubicBezTo>
                  <a:lnTo>
                    <a:pt x="49520" y="7707"/>
                  </a:lnTo>
                  <a:cubicBezTo>
                    <a:pt x="52210" y="10170"/>
                    <a:pt x="54454" y="13080"/>
                    <a:pt x="56154" y="16307"/>
                  </a:cubicBezTo>
                  <a:lnTo>
                    <a:pt x="56264" y="16516"/>
                  </a:lnTo>
                  <a:cubicBezTo>
                    <a:pt x="58037" y="19883"/>
                    <a:pt x="59247" y="23519"/>
                    <a:pt x="59844" y="27278"/>
                  </a:cubicBezTo>
                  <a:lnTo>
                    <a:pt x="59850" y="27316"/>
                  </a:lnTo>
                  <a:cubicBezTo>
                    <a:pt x="60452" y="31103"/>
                    <a:pt x="60455" y="34960"/>
                    <a:pt x="59858" y="38747"/>
                  </a:cubicBezTo>
                  <a:lnTo>
                    <a:pt x="59829" y="38934"/>
                  </a:lnTo>
                  <a:cubicBezTo>
                    <a:pt x="59242" y="42662"/>
                    <a:pt x="58037" y="46267"/>
                    <a:pt x="56264" y="49599"/>
                  </a:cubicBezTo>
                  <a:lnTo>
                    <a:pt x="56175" y="49766"/>
                  </a:lnTo>
                  <a:cubicBezTo>
                    <a:pt x="54461" y="52987"/>
                    <a:pt x="52211" y="55891"/>
                    <a:pt x="49520" y="58355"/>
                  </a:cubicBezTo>
                  <a:lnTo>
                    <a:pt x="49407" y="58459"/>
                  </a:lnTo>
                  <a:cubicBezTo>
                    <a:pt x="46794" y="60852"/>
                    <a:pt x="43771" y="62752"/>
                    <a:pt x="40482" y="64070"/>
                  </a:cubicBezTo>
                  <a:lnTo>
                    <a:pt x="40480" y="64070"/>
                  </a:lnTo>
                  <a:cubicBezTo>
                    <a:pt x="37196" y="65386"/>
                    <a:pt x="33690" y="66062"/>
                    <a:pt x="30152" y="66062"/>
                  </a:cubicBezTo>
                  <a:lnTo>
                    <a:pt x="30152" y="66062"/>
                  </a:lnTo>
                  <a:cubicBezTo>
                    <a:pt x="26614" y="66062"/>
                    <a:pt x="23108" y="65386"/>
                    <a:pt x="19824" y="64070"/>
                  </a:cubicBezTo>
                  <a:lnTo>
                    <a:pt x="19822" y="64070"/>
                  </a:lnTo>
                  <a:cubicBezTo>
                    <a:pt x="16533" y="62752"/>
                    <a:pt x="13510" y="60852"/>
                    <a:pt x="10897" y="58459"/>
                  </a:cubicBezTo>
                  <a:lnTo>
                    <a:pt x="10784" y="58355"/>
                  </a:lnTo>
                  <a:cubicBezTo>
                    <a:pt x="8093" y="55891"/>
                    <a:pt x="5843" y="52987"/>
                    <a:pt x="4129" y="49766"/>
                  </a:cubicBezTo>
                  <a:lnTo>
                    <a:pt x="4040" y="49599"/>
                  </a:lnTo>
                  <a:cubicBezTo>
                    <a:pt x="2267" y="46267"/>
                    <a:pt x="1062" y="42662"/>
                    <a:pt x="475" y="38934"/>
                  </a:cubicBezTo>
                  <a:lnTo>
                    <a:pt x="446" y="38747"/>
                  </a:lnTo>
                  <a:cubicBezTo>
                    <a:pt x="-151" y="34960"/>
                    <a:pt x="-148" y="31103"/>
                    <a:pt x="454" y="27316"/>
                  </a:cubicBezTo>
                  <a:lnTo>
                    <a:pt x="460" y="27278"/>
                  </a:lnTo>
                  <a:cubicBezTo>
                    <a:pt x="1057" y="23519"/>
                    <a:pt x="2267" y="19883"/>
                    <a:pt x="4040" y="16516"/>
                  </a:cubicBezTo>
                  <a:lnTo>
                    <a:pt x="4150" y="16307"/>
                  </a:lnTo>
                  <a:cubicBezTo>
                    <a:pt x="5850" y="13080"/>
                    <a:pt x="8094" y="10170"/>
                    <a:pt x="10784" y="7707"/>
                  </a:cubicBezTo>
                  <a:lnTo>
                    <a:pt x="10897" y="7603"/>
                  </a:lnTo>
                  <a:cubicBezTo>
                    <a:pt x="13510" y="5211"/>
                    <a:pt x="16533" y="3310"/>
                    <a:pt x="19822" y="1992"/>
                  </a:cubicBezTo>
                  <a:lnTo>
                    <a:pt x="19824" y="1992"/>
                  </a:lnTo>
                  <a:cubicBezTo>
                    <a:pt x="23108" y="676"/>
                    <a:pt x="26614" y="0"/>
                    <a:pt x="30152" y="0"/>
                  </a:cubicBezTo>
                  <a:lnTo>
                    <a:pt x="30152" y="0"/>
                  </a:lnTo>
                  <a:cubicBezTo>
                    <a:pt x="33690" y="0"/>
                    <a:pt x="37196" y="676"/>
                    <a:pt x="40480" y="1992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199" y="-19000"/>
              <a:ext cx="42816" cy="75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3533731"/>
            <a:ext cx="199634" cy="215470"/>
            <a:chOff x="0" y="0"/>
            <a:chExt cx="61214" cy="66167"/>
          </a:xfrm>
        </p:grpSpPr>
        <p:sp>
          <p:nvSpPr>
            <p:cNvPr id="9" name="Freeform 9"/>
            <p:cNvSpPr/>
            <p:nvPr/>
          </p:nvSpPr>
          <p:spPr>
            <a:xfrm>
              <a:off x="455" y="0"/>
              <a:ext cx="60304" cy="66062"/>
            </a:xfrm>
            <a:custGeom>
              <a:avLst/>
              <a:gdLst/>
              <a:ahLst/>
              <a:cxnLst/>
              <a:rect l="l" t="t" r="r" b="b"/>
              <a:pathLst>
                <a:path w="60304" h="66062">
                  <a:moveTo>
                    <a:pt x="40480" y="1992"/>
                  </a:moveTo>
                  <a:lnTo>
                    <a:pt x="40482" y="1992"/>
                  </a:lnTo>
                  <a:cubicBezTo>
                    <a:pt x="43771" y="3310"/>
                    <a:pt x="46794" y="5211"/>
                    <a:pt x="49407" y="7603"/>
                  </a:cubicBezTo>
                  <a:lnTo>
                    <a:pt x="49520" y="7707"/>
                  </a:lnTo>
                  <a:cubicBezTo>
                    <a:pt x="52210" y="10170"/>
                    <a:pt x="54454" y="13080"/>
                    <a:pt x="56154" y="16307"/>
                  </a:cubicBezTo>
                  <a:lnTo>
                    <a:pt x="56264" y="16516"/>
                  </a:lnTo>
                  <a:cubicBezTo>
                    <a:pt x="58037" y="19883"/>
                    <a:pt x="59247" y="23519"/>
                    <a:pt x="59844" y="27278"/>
                  </a:cubicBezTo>
                  <a:lnTo>
                    <a:pt x="59850" y="27316"/>
                  </a:lnTo>
                  <a:cubicBezTo>
                    <a:pt x="60452" y="31103"/>
                    <a:pt x="60455" y="34960"/>
                    <a:pt x="59858" y="38747"/>
                  </a:cubicBezTo>
                  <a:lnTo>
                    <a:pt x="59829" y="38934"/>
                  </a:lnTo>
                  <a:cubicBezTo>
                    <a:pt x="59242" y="42662"/>
                    <a:pt x="58037" y="46267"/>
                    <a:pt x="56264" y="49599"/>
                  </a:cubicBezTo>
                  <a:lnTo>
                    <a:pt x="56175" y="49766"/>
                  </a:lnTo>
                  <a:cubicBezTo>
                    <a:pt x="54461" y="52987"/>
                    <a:pt x="52211" y="55891"/>
                    <a:pt x="49520" y="58355"/>
                  </a:cubicBezTo>
                  <a:lnTo>
                    <a:pt x="49407" y="58459"/>
                  </a:lnTo>
                  <a:cubicBezTo>
                    <a:pt x="46794" y="60852"/>
                    <a:pt x="43771" y="62752"/>
                    <a:pt x="40482" y="64070"/>
                  </a:cubicBezTo>
                  <a:lnTo>
                    <a:pt x="40480" y="64070"/>
                  </a:lnTo>
                  <a:cubicBezTo>
                    <a:pt x="37196" y="65386"/>
                    <a:pt x="33690" y="66062"/>
                    <a:pt x="30152" y="66062"/>
                  </a:cubicBezTo>
                  <a:lnTo>
                    <a:pt x="30152" y="66062"/>
                  </a:lnTo>
                  <a:cubicBezTo>
                    <a:pt x="26614" y="66062"/>
                    <a:pt x="23108" y="65386"/>
                    <a:pt x="19824" y="64070"/>
                  </a:cubicBezTo>
                  <a:lnTo>
                    <a:pt x="19822" y="64070"/>
                  </a:lnTo>
                  <a:cubicBezTo>
                    <a:pt x="16533" y="62752"/>
                    <a:pt x="13510" y="60852"/>
                    <a:pt x="10897" y="58459"/>
                  </a:cubicBezTo>
                  <a:lnTo>
                    <a:pt x="10784" y="58355"/>
                  </a:lnTo>
                  <a:cubicBezTo>
                    <a:pt x="8093" y="55891"/>
                    <a:pt x="5843" y="52987"/>
                    <a:pt x="4129" y="49766"/>
                  </a:cubicBezTo>
                  <a:lnTo>
                    <a:pt x="4040" y="49599"/>
                  </a:lnTo>
                  <a:cubicBezTo>
                    <a:pt x="2267" y="46267"/>
                    <a:pt x="1062" y="42662"/>
                    <a:pt x="475" y="38934"/>
                  </a:cubicBezTo>
                  <a:lnTo>
                    <a:pt x="446" y="38747"/>
                  </a:lnTo>
                  <a:cubicBezTo>
                    <a:pt x="-151" y="34960"/>
                    <a:pt x="-148" y="31103"/>
                    <a:pt x="454" y="27316"/>
                  </a:cubicBezTo>
                  <a:lnTo>
                    <a:pt x="460" y="27278"/>
                  </a:lnTo>
                  <a:cubicBezTo>
                    <a:pt x="1057" y="23519"/>
                    <a:pt x="2267" y="19883"/>
                    <a:pt x="4040" y="16516"/>
                  </a:cubicBezTo>
                  <a:lnTo>
                    <a:pt x="4150" y="16307"/>
                  </a:lnTo>
                  <a:cubicBezTo>
                    <a:pt x="5850" y="13080"/>
                    <a:pt x="8094" y="10170"/>
                    <a:pt x="10784" y="7707"/>
                  </a:cubicBezTo>
                  <a:lnTo>
                    <a:pt x="10897" y="7603"/>
                  </a:lnTo>
                  <a:cubicBezTo>
                    <a:pt x="13510" y="5211"/>
                    <a:pt x="16533" y="3310"/>
                    <a:pt x="19822" y="1992"/>
                  </a:cubicBezTo>
                  <a:lnTo>
                    <a:pt x="19824" y="1992"/>
                  </a:lnTo>
                  <a:cubicBezTo>
                    <a:pt x="23108" y="676"/>
                    <a:pt x="26614" y="0"/>
                    <a:pt x="30152" y="0"/>
                  </a:cubicBezTo>
                  <a:lnTo>
                    <a:pt x="30152" y="0"/>
                  </a:lnTo>
                  <a:cubicBezTo>
                    <a:pt x="33690" y="0"/>
                    <a:pt x="37196" y="676"/>
                    <a:pt x="40480" y="1992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199" y="-19000"/>
              <a:ext cx="42816" cy="75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4646564"/>
            <a:ext cx="199634" cy="215470"/>
            <a:chOff x="0" y="0"/>
            <a:chExt cx="61214" cy="66167"/>
          </a:xfrm>
        </p:grpSpPr>
        <p:sp>
          <p:nvSpPr>
            <p:cNvPr id="12" name="Freeform 12"/>
            <p:cNvSpPr/>
            <p:nvPr/>
          </p:nvSpPr>
          <p:spPr>
            <a:xfrm>
              <a:off x="455" y="0"/>
              <a:ext cx="60304" cy="66062"/>
            </a:xfrm>
            <a:custGeom>
              <a:avLst/>
              <a:gdLst/>
              <a:ahLst/>
              <a:cxnLst/>
              <a:rect l="l" t="t" r="r" b="b"/>
              <a:pathLst>
                <a:path w="60304" h="66062">
                  <a:moveTo>
                    <a:pt x="40480" y="1992"/>
                  </a:moveTo>
                  <a:lnTo>
                    <a:pt x="40482" y="1992"/>
                  </a:lnTo>
                  <a:cubicBezTo>
                    <a:pt x="43771" y="3310"/>
                    <a:pt x="46794" y="5211"/>
                    <a:pt x="49407" y="7603"/>
                  </a:cubicBezTo>
                  <a:lnTo>
                    <a:pt x="49520" y="7707"/>
                  </a:lnTo>
                  <a:cubicBezTo>
                    <a:pt x="52210" y="10170"/>
                    <a:pt x="54454" y="13080"/>
                    <a:pt x="56154" y="16307"/>
                  </a:cubicBezTo>
                  <a:lnTo>
                    <a:pt x="56264" y="16516"/>
                  </a:lnTo>
                  <a:cubicBezTo>
                    <a:pt x="58037" y="19883"/>
                    <a:pt x="59247" y="23519"/>
                    <a:pt x="59844" y="27278"/>
                  </a:cubicBezTo>
                  <a:lnTo>
                    <a:pt x="59850" y="27316"/>
                  </a:lnTo>
                  <a:cubicBezTo>
                    <a:pt x="60452" y="31103"/>
                    <a:pt x="60455" y="34960"/>
                    <a:pt x="59858" y="38747"/>
                  </a:cubicBezTo>
                  <a:lnTo>
                    <a:pt x="59829" y="38934"/>
                  </a:lnTo>
                  <a:cubicBezTo>
                    <a:pt x="59242" y="42662"/>
                    <a:pt x="58037" y="46267"/>
                    <a:pt x="56264" y="49599"/>
                  </a:cubicBezTo>
                  <a:lnTo>
                    <a:pt x="56175" y="49766"/>
                  </a:lnTo>
                  <a:cubicBezTo>
                    <a:pt x="54461" y="52987"/>
                    <a:pt x="52211" y="55891"/>
                    <a:pt x="49520" y="58355"/>
                  </a:cubicBezTo>
                  <a:lnTo>
                    <a:pt x="49407" y="58459"/>
                  </a:lnTo>
                  <a:cubicBezTo>
                    <a:pt x="46794" y="60852"/>
                    <a:pt x="43771" y="62752"/>
                    <a:pt x="40482" y="64070"/>
                  </a:cubicBezTo>
                  <a:lnTo>
                    <a:pt x="40480" y="64070"/>
                  </a:lnTo>
                  <a:cubicBezTo>
                    <a:pt x="37196" y="65386"/>
                    <a:pt x="33690" y="66062"/>
                    <a:pt x="30152" y="66062"/>
                  </a:cubicBezTo>
                  <a:lnTo>
                    <a:pt x="30152" y="66062"/>
                  </a:lnTo>
                  <a:cubicBezTo>
                    <a:pt x="26614" y="66062"/>
                    <a:pt x="23108" y="65386"/>
                    <a:pt x="19824" y="64070"/>
                  </a:cubicBezTo>
                  <a:lnTo>
                    <a:pt x="19822" y="64070"/>
                  </a:lnTo>
                  <a:cubicBezTo>
                    <a:pt x="16533" y="62752"/>
                    <a:pt x="13510" y="60852"/>
                    <a:pt x="10897" y="58459"/>
                  </a:cubicBezTo>
                  <a:lnTo>
                    <a:pt x="10784" y="58355"/>
                  </a:lnTo>
                  <a:cubicBezTo>
                    <a:pt x="8093" y="55891"/>
                    <a:pt x="5843" y="52987"/>
                    <a:pt x="4129" y="49766"/>
                  </a:cubicBezTo>
                  <a:lnTo>
                    <a:pt x="4040" y="49599"/>
                  </a:lnTo>
                  <a:cubicBezTo>
                    <a:pt x="2267" y="46267"/>
                    <a:pt x="1062" y="42662"/>
                    <a:pt x="475" y="38934"/>
                  </a:cubicBezTo>
                  <a:lnTo>
                    <a:pt x="446" y="38747"/>
                  </a:lnTo>
                  <a:cubicBezTo>
                    <a:pt x="-151" y="34960"/>
                    <a:pt x="-148" y="31103"/>
                    <a:pt x="454" y="27316"/>
                  </a:cubicBezTo>
                  <a:lnTo>
                    <a:pt x="460" y="27278"/>
                  </a:lnTo>
                  <a:cubicBezTo>
                    <a:pt x="1057" y="23519"/>
                    <a:pt x="2267" y="19883"/>
                    <a:pt x="4040" y="16516"/>
                  </a:cubicBezTo>
                  <a:lnTo>
                    <a:pt x="4150" y="16307"/>
                  </a:lnTo>
                  <a:cubicBezTo>
                    <a:pt x="5850" y="13080"/>
                    <a:pt x="8094" y="10170"/>
                    <a:pt x="10784" y="7707"/>
                  </a:cubicBezTo>
                  <a:lnTo>
                    <a:pt x="10897" y="7603"/>
                  </a:lnTo>
                  <a:cubicBezTo>
                    <a:pt x="13510" y="5211"/>
                    <a:pt x="16533" y="3310"/>
                    <a:pt x="19822" y="1992"/>
                  </a:cubicBezTo>
                  <a:lnTo>
                    <a:pt x="19824" y="1992"/>
                  </a:lnTo>
                  <a:cubicBezTo>
                    <a:pt x="23108" y="676"/>
                    <a:pt x="26614" y="0"/>
                    <a:pt x="30152" y="0"/>
                  </a:cubicBezTo>
                  <a:lnTo>
                    <a:pt x="30152" y="0"/>
                  </a:lnTo>
                  <a:cubicBezTo>
                    <a:pt x="33690" y="0"/>
                    <a:pt x="37196" y="676"/>
                    <a:pt x="40480" y="1992"/>
                  </a:cubicBezTo>
                  <a:close/>
                </a:path>
              </a:pathLst>
            </a:custGeom>
            <a:solidFill>
              <a:srgbClr val="FFDE59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99" y="-19000"/>
              <a:ext cx="42816" cy="75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846273" y="869354"/>
            <a:ext cx="877078" cy="884095"/>
          </a:xfrm>
          <a:custGeom>
            <a:avLst/>
            <a:gdLst/>
            <a:ahLst/>
            <a:cxnLst/>
            <a:rect l="l" t="t" r="r" b="b"/>
            <a:pathLst>
              <a:path w="877078" h="884095">
                <a:moveTo>
                  <a:pt x="0" y="0"/>
                </a:moveTo>
                <a:lnTo>
                  <a:pt x="877078" y="0"/>
                </a:lnTo>
                <a:lnTo>
                  <a:pt x="877078" y="884095"/>
                </a:lnTo>
                <a:lnTo>
                  <a:pt x="0" y="884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600200" y="742406"/>
            <a:ext cx="4504077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References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90276" y="2373273"/>
            <a:ext cx="16007961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Dataset - Government of India Grievance Report Dataset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u="sng" dirty="0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  <a:hlinkClick r:id="rId3"/>
              </a:rPr>
              <a:t>https://www.kaggle.com/datasets/ayushyajnik/government-of-india-grievance-report?select=no_pii_grievance.json</a:t>
            </a:r>
            <a:endParaRPr lang="en-US" sz="1800" u="sng" dirty="0">
              <a:solidFill>
                <a:srgbClr val="004AA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74133" y="3486106"/>
            <a:ext cx="15481254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Code Repository - Automated Grievance Redressal System Project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u="sng" dirty="0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  <a:hlinkClick r:id="rId4"/>
              </a:rPr>
              <a:t>https://github.com/ishankinger/Automated-Grievance-Redressal-System-Project</a:t>
            </a:r>
            <a:endParaRPr lang="en-US" sz="1800" u="sng" dirty="0">
              <a:solidFill>
                <a:srgbClr val="004AA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49447" y="4656089"/>
            <a:ext cx="16765087" cy="5261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8"/>
              </a:lnSpc>
            </a:pPr>
            <a:r>
              <a:rPr lang="en-US" sz="1800" b="1">
                <a:solidFill>
                  <a:srgbClr val="004AAD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Research Papers</a:t>
            </a:r>
            <a:r>
              <a:rPr lang="en-US" sz="1800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 - </a:t>
            </a:r>
          </a:p>
          <a:p>
            <a:pPr algn="l">
              <a:lnSpc>
                <a:spcPts val="1908"/>
              </a:lnSpc>
            </a:pPr>
            <a:endParaRPr lang="en-US" sz="1800">
              <a:solidFill>
                <a:srgbClr val="004AAD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1908"/>
              </a:lnSpc>
            </a:pPr>
            <a:r>
              <a:rPr lang="en-US" sz="1800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[1] Gupta et al., “AI-Based Solution to Enable Ease of Grievance Lodging and Tracking,” ICAAAI, 2025.</a:t>
            </a:r>
          </a:p>
          <a:p>
            <a:pPr algn="l">
              <a:lnSpc>
                <a:spcPts val="1908"/>
              </a:lnSpc>
            </a:pPr>
            <a:endParaRPr lang="en-US" sz="1800">
              <a:solidFill>
                <a:srgbClr val="004AAD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1908"/>
              </a:lnSpc>
            </a:pPr>
            <a:r>
              <a:rPr lang="en-US" sz="1800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[2] Suganya et al., “Autonomous Grievance Redressal System for Government Services,” ICDSBS, 2025.</a:t>
            </a:r>
          </a:p>
          <a:p>
            <a:pPr algn="l">
              <a:lnSpc>
                <a:spcPts val="1908"/>
              </a:lnSpc>
            </a:pPr>
            <a:endParaRPr lang="en-US" sz="1800">
              <a:solidFill>
                <a:srgbClr val="004AAD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1908"/>
              </a:lnSpc>
            </a:pPr>
            <a:r>
              <a:rPr lang="en-US" sz="1800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[3] Verma et al., “Complaint Classification Model Using NLP,” IJRASET, 2025.</a:t>
            </a:r>
          </a:p>
          <a:p>
            <a:pPr algn="l">
              <a:lnSpc>
                <a:spcPts val="1908"/>
              </a:lnSpc>
            </a:pPr>
            <a:endParaRPr lang="en-US" sz="1800">
              <a:solidFill>
                <a:srgbClr val="004AAD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1908"/>
              </a:lnSpc>
            </a:pPr>
            <a:r>
              <a:rPr lang="en-US" sz="1800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[4] Ashwitha and Vani, “Smart Civic Complaint Analyzer Using NLP,” IJIRT, 2025.</a:t>
            </a:r>
          </a:p>
          <a:p>
            <a:pPr algn="l">
              <a:lnSpc>
                <a:spcPts val="1908"/>
              </a:lnSpc>
            </a:pPr>
            <a:endParaRPr lang="en-US" sz="1800">
              <a:solidFill>
                <a:srgbClr val="004AAD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1908"/>
              </a:lnSpc>
            </a:pPr>
            <a:r>
              <a:rPr lang="en-US" sz="1800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[5] Mauritsius et al., “Text Mining for Complaint Ticket Classification,” Journal of Logistics Informatics, 2024.</a:t>
            </a:r>
          </a:p>
          <a:p>
            <a:pPr algn="l">
              <a:lnSpc>
                <a:spcPts val="1908"/>
              </a:lnSpc>
            </a:pPr>
            <a:endParaRPr lang="en-US" sz="1800">
              <a:solidFill>
                <a:srgbClr val="004AAD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1908"/>
              </a:lnSpc>
            </a:pPr>
            <a:r>
              <a:rPr lang="en-US" sz="1800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[6] Selvi et al., “Customer Support Ticket Categorization and Prioritization Using Natural Language Processing,”.</a:t>
            </a:r>
          </a:p>
          <a:p>
            <a:pPr algn="l">
              <a:lnSpc>
                <a:spcPts val="1908"/>
              </a:lnSpc>
            </a:pPr>
            <a:endParaRPr lang="en-US" sz="1800">
              <a:solidFill>
                <a:srgbClr val="004AAD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1908"/>
              </a:lnSpc>
            </a:pPr>
            <a:r>
              <a:rPr lang="en-US" sz="1800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[7] Singh, “NLP Based Grievance Redressal System,” IJCA, 2022.</a:t>
            </a:r>
          </a:p>
          <a:p>
            <a:pPr algn="l">
              <a:lnSpc>
                <a:spcPts val="1908"/>
              </a:lnSpc>
            </a:pPr>
            <a:endParaRPr lang="en-US" sz="1800">
              <a:solidFill>
                <a:srgbClr val="004AAD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1908"/>
              </a:lnSpc>
            </a:pPr>
            <a:r>
              <a:rPr lang="en-US" sz="1800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[8] Joy et al., “Smart Grievance Redressal System,” IEEE, 2021.</a:t>
            </a:r>
          </a:p>
          <a:p>
            <a:pPr algn="l">
              <a:lnSpc>
                <a:spcPts val="1908"/>
              </a:lnSpc>
            </a:pPr>
            <a:endParaRPr lang="en-US" sz="1800">
              <a:solidFill>
                <a:srgbClr val="004AAD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1908"/>
              </a:lnSpc>
            </a:pPr>
            <a:r>
              <a:rPr lang="en-US" sz="1800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[9] Bhosale et al., “Civil Complaints Management System Using Machine Learning,” IRJET, 2021.</a:t>
            </a:r>
          </a:p>
          <a:p>
            <a:pPr algn="l">
              <a:lnSpc>
                <a:spcPts val="1908"/>
              </a:lnSpc>
            </a:pPr>
            <a:endParaRPr lang="en-US" sz="1800">
              <a:solidFill>
                <a:srgbClr val="004AAD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algn="l">
              <a:lnSpc>
                <a:spcPts val="1908"/>
              </a:lnSpc>
            </a:pPr>
            <a:r>
              <a:rPr lang="en-US" sz="1800">
                <a:solidFill>
                  <a:srgbClr val="004AAD"/>
                </a:solidFill>
                <a:latin typeface="Merriweather"/>
                <a:ea typeface="Merriweather"/>
                <a:cs typeface="Merriweather"/>
                <a:sym typeface="Merriweather"/>
              </a:rPr>
              <a:t>[10] Prasanthi et al., “Citizen Grievance Classification and Decision Support Using NLP,” IJSRED, 2026.</a:t>
            </a:r>
          </a:p>
          <a:p>
            <a:pPr algn="l">
              <a:lnSpc>
                <a:spcPts val="1908"/>
              </a:lnSpc>
            </a:pPr>
            <a:endParaRPr lang="en-US" sz="1800">
              <a:solidFill>
                <a:srgbClr val="004AA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1672</Words>
  <Application>Microsoft Office PowerPoint</Application>
  <PresentationFormat>Custom</PresentationFormat>
  <Paragraphs>208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Merriweather</vt:lpstr>
      <vt:lpstr>Merriweather Sans Bold</vt:lpstr>
      <vt:lpstr>Arial</vt:lpstr>
      <vt:lpstr>Merriweather Sans</vt:lpstr>
      <vt:lpstr>Merriweather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BTP_Prensentation_22CS01014</dc:title>
  <cp:lastModifiedBy>ishan kinger</cp:lastModifiedBy>
  <cp:revision>2</cp:revision>
  <dcterms:created xsi:type="dcterms:W3CDTF">2006-08-16T00:00:00Z</dcterms:created>
  <dcterms:modified xsi:type="dcterms:W3CDTF">2026-05-05T05:06:52Z</dcterms:modified>
  <dc:identifier>DAHGpD7LuqQ</dc:identifier>
</cp:coreProperties>
</file>